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Lst>
  <p:notesMasterIdLst>
    <p:notesMasterId r:id="rId21"/>
  </p:notesMasterIdLst>
  <p:sldIdLst>
    <p:sldId id="274" r:id="rId3"/>
    <p:sldId id="257" r:id="rId4"/>
    <p:sldId id="273" r:id="rId5"/>
    <p:sldId id="275" r:id="rId6"/>
    <p:sldId id="259" r:id="rId7"/>
    <p:sldId id="261" r:id="rId8"/>
    <p:sldId id="270" r:id="rId9"/>
    <p:sldId id="271" r:id="rId10"/>
    <p:sldId id="262" r:id="rId11"/>
    <p:sldId id="263" r:id="rId12"/>
    <p:sldId id="264" r:id="rId13"/>
    <p:sldId id="265" r:id="rId14"/>
    <p:sldId id="266" r:id="rId15"/>
    <p:sldId id="276" r:id="rId16"/>
    <p:sldId id="268" r:id="rId17"/>
    <p:sldId id="277" r:id="rId18"/>
    <p:sldId id="278" r:id="rId19"/>
    <p:sldId id="269" r:id="rId20"/>
  </p:sldIdLst>
  <p:sldSz cx="9144000" cy="5143500" type="screen16x9"/>
  <p:notesSz cx="5143500" cy="9144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80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5842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395493"/>
          </a:xfrm>
          <a:prstGeom prst="rect">
            <a:avLst/>
          </a:prstGeom>
        </p:spPr>
        <p:txBody>
          <a:bodyPr wrap="square" lIns="0" tIns="0" rIns="0" bIns="0">
            <a:spAutoFit/>
          </a:bodyPr>
          <a:lstStyle>
            <a:lvl1pPr>
              <a:defRPr sz="2570" b="0" i="0">
                <a:solidFill>
                  <a:srgbClr val="181818"/>
                </a:solidFill>
                <a:latin typeface="Arial MT"/>
                <a:cs typeface="Arial MT"/>
              </a:defRPr>
            </a:lvl1pPr>
          </a:lstStyle>
          <a:p>
            <a:endParaRPr/>
          </a:p>
        </p:txBody>
      </p:sp>
      <p:sp>
        <p:nvSpPr>
          <p:cNvPr id="3" name="Holder 3"/>
          <p:cNvSpPr>
            <a:spLocks noGrp="1"/>
          </p:cNvSpPr>
          <p:nvPr>
            <p:ph type="subTitle" idx="4"/>
          </p:nvPr>
        </p:nvSpPr>
        <p:spPr>
          <a:xfrm>
            <a:off x="1371600" y="2880360"/>
            <a:ext cx="6400800"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51006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648765" y="421032"/>
            <a:ext cx="3985409" cy="395493"/>
          </a:xfrm>
        </p:spPr>
        <p:txBody>
          <a:bodyPr lIns="0" tIns="0" rIns="0" bIns="0"/>
          <a:lstStyle>
            <a:lvl1pPr>
              <a:defRPr sz="2570" b="0" i="0">
                <a:solidFill>
                  <a:srgbClr val="181818"/>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16025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648765" y="421032"/>
            <a:ext cx="3985409" cy="395493"/>
          </a:xfrm>
        </p:spPr>
        <p:txBody>
          <a:bodyPr lIns="0" tIns="0" rIns="0" bIns="0"/>
          <a:lstStyle>
            <a:lvl1pPr>
              <a:defRPr sz="2570" b="0" i="0">
                <a:solidFill>
                  <a:srgbClr val="181818"/>
                </a:solidFill>
                <a:latin typeface="Arial MT"/>
                <a:cs typeface="Arial MT"/>
              </a:defRPr>
            </a:lvl1pPr>
          </a:lstStyle>
          <a:p>
            <a:endParaRPr/>
          </a:p>
        </p:txBody>
      </p:sp>
      <p:sp>
        <p:nvSpPr>
          <p:cNvPr id="3" name="Holder 3"/>
          <p:cNvSpPr>
            <a:spLocks noGrp="1"/>
          </p:cNvSpPr>
          <p:nvPr>
            <p:ph sz="half" idx="2"/>
          </p:nvPr>
        </p:nvSpPr>
        <p:spPr>
          <a:xfrm>
            <a:off x="457200" y="1183005"/>
            <a:ext cx="39776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03490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648765" y="421032"/>
            <a:ext cx="3985409" cy="395493"/>
          </a:xfrm>
        </p:spPr>
        <p:txBody>
          <a:bodyPr lIns="0" tIns="0" rIns="0" bIns="0"/>
          <a:lstStyle>
            <a:lvl1pPr>
              <a:defRPr sz="2570" b="0" i="0">
                <a:solidFill>
                  <a:srgbClr val="181818"/>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1387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9943324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48765" y="421032"/>
            <a:ext cx="3985409" cy="869469"/>
          </a:xfrm>
          <a:prstGeom prst="rect">
            <a:avLst/>
          </a:prstGeom>
        </p:spPr>
        <p:txBody>
          <a:bodyPr wrap="square" lIns="0" tIns="0" rIns="0" bIns="0">
            <a:spAutoFit/>
          </a:bodyPr>
          <a:lstStyle>
            <a:lvl1pPr>
              <a:defRPr sz="5650" b="0" i="0">
                <a:solidFill>
                  <a:srgbClr val="181818"/>
                </a:solidFill>
                <a:latin typeface="Arial MT"/>
                <a:cs typeface="Arial MT"/>
              </a:defRPr>
            </a:lvl1pPr>
          </a:lstStyle>
          <a:p>
            <a:endParaRPr/>
          </a:p>
        </p:txBody>
      </p:sp>
      <p:sp>
        <p:nvSpPr>
          <p:cNvPr id="3" name="Holder 3"/>
          <p:cNvSpPr>
            <a:spLocks noGrp="1"/>
          </p:cNvSpPr>
          <p:nvPr>
            <p:ph type="body" idx="1"/>
          </p:nvPr>
        </p:nvSpPr>
        <p:spPr>
          <a:xfrm>
            <a:off x="394639" y="1867739"/>
            <a:ext cx="4059347" cy="276999"/>
          </a:xfrm>
          <a:prstGeom prst="rect">
            <a:avLst/>
          </a:prstGeom>
        </p:spPr>
        <p:txBody>
          <a:bodyPr wrap="square" lIns="0" tIns="0" rIns="0" bIns="0">
            <a:spAutoFit/>
          </a:bodyPr>
          <a:lstStyle>
            <a:lvl1pPr>
              <a:defRPr b="0" i="0">
                <a:solidFill>
                  <a:schemeClr val="tx1"/>
                </a:solidFill>
              </a:defRPr>
            </a:lvl1pPr>
          </a:lstStyle>
          <a:p>
            <a:endParaRPr dirty="0"/>
          </a:p>
        </p:txBody>
      </p:sp>
      <p:sp>
        <p:nvSpPr>
          <p:cNvPr id="4" name="Holder 4"/>
          <p:cNvSpPr>
            <a:spLocks noGrp="1"/>
          </p:cNvSpPr>
          <p:nvPr>
            <p:ph type="ftr" sz="quarter" idx="5"/>
          </p:nvPr>
        </p:nvSpPr>
        <p:spPr>
          <a:xfrm>
            <a:off x="3108960" y="4783455"/>
            <a:ext cx="2926080" cy="276999"/>
          </a:xfrm>
          <a:prstGeom prst="rect">
            <a:avLst/>
          </a:prstGeom>
        </p:spPr>
        <p:txBody>
          <a:bodyPr wrap="square" lIns="0" tIns="0" rIns="0" bIns="0">
            <a:spAutoFit/>
          </a:bodyPr>
          <a:lstStyle>
            <a:lvl1pPr algn="ctr">
              <a:defRPr>
                <a:solidFill>
                  <a:schemeClr val="tx1">
                    <a:tint val="75000"/>
                  </a:schemeClr>
                </a:solidFill>
                <a:latin typeface="Times New Roman" panose="02020603050405020304" pitchFamily="18" charset="0"/>
              </a:defRPr>
            </a:lvl1pPr>
          </a:lstStyle>
          <a:p>
            <a:endParaRPr lang="en-IN" dirty="0"/>
          </a:p>
        </p:txBody>
      </p:sp>
      <p:sp>
        <p:nvSpPr>
          <p:cNvPr id="5" name="Holder 5"/>
          <p:cNvSpPr>
            <a:spLocks noGrp="1"/>
          </p:cNvSpPr>
          <p:nvPr>
            <p:ph type="dt" sz="half" idx="6"/>
          </p:nvPr>
        </p:nvSpPr>
        <p:spPr>
          <a:xfrm>
            <a:off x="457200" y="4783455"/>
            <a:ext cx="2103120" cy="276999"/>
          </a:xfrm>
          <a:prstGeom prst="rect">
            <a:avLst/>
          </a:prstGeom>
        </p:spPr>
        <p:txBody>
          <a:bodyPr wrap="square" lIns="0" tIns="0" rIns="0" bIns="0">
            <a:spAutoFit/>
          </a:bodyPr>
          <a:lstStyle>
            <a:lvl1pPr algn="l">
              <a:defRPr>
                <a:solidFill>
                  <a:schemeClr val="tx1">
                    <a:tint val="75000"/>
                  </a:schemeClr>
                </a:solidFill>
                <a:latin typeface="Times New Roman" panose="02020603050405020304" pitchFamily="18" charset="0"/>
              </a:defRPr>
            </a:lvl1pPr>
          </a:lstStyle>
          <a:p>
            <a:fld id="{1D8BD707-D9CF-40AE-B4C6-C98DA3205C09}" type="datetimeFigureOut">
              <a:rPr lang="en-US" smtClean="0"/>
              <a:pPr/>
              <a:t>4/1/2026</a:t>
            </a:fld>
            <a:endParaRPr lang="en-US" dirty="0"/>
          </a:p>
        </p:txBody>
      </p:sp>
      <p:sp>
        <p:nvSpPr>
          <p:cNvPr id="6" name="Holder 6"/>
          <p:cNvSpPr>
            <a:spLocks noGrp="1"/>
          </p:cNvSpPr>
          <p:nvPr>
            <p:ph type="sldNum" sz="quarter" idx="7"/>
          </p:nvPr>
        </p:nvSpPr>
        <p:spPr>
          <a:xfrm>
            <a:off x="6583681" y="4783455"/>
            <a:ext cx="2103120" cy="276999"/>
          </a:xfrm>
          <a:prstGeom prst="rect">
            <a:avLst/>
          </a:prstGeom>
        </p:spPr>
        <p:txBody>
          <a:bodyPr wrap="square" lIns="0" tIns="0" rIns="0" bIns="0">
            <a:spAutoFit/>
          </a:bodyPr>
          <a:lstStyle>
            <a:lvl1pPr algn="r">
              <a:defRPr>
                <a:solidFill>
                  <a:schemeClr val="tx1">
                    <a:tint val="75000"/>
                  </a:schemeClr>
                </a:solidFill>
                <a:latin typeface="Times New Roman" panose="02020603050405020304" pitchFamily="18" charset="0"/>
              </a:defRPr>
            </a:lvl1p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110808188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Lst>
  <p:txStyles>
    <p:titleStyle>
      <a:lvl1pPr>
        <a:defRPr>
          <a:latin typeface="+mj-lt"/>
          <a:ea typeface="+mj-ea"/>
          <a:cs typeface="+mj-cs"/>
        </a:defRPr>
      </a:lvl1pPr>
    </p:titleStyle>
    <p:bodyStyle>
      <a:lvl1pPr marL="0">
        <a:defRPr>
          <a:latin typeface="Times New Roman" panose="02020603050405020304" pitchFamily="18" charset="0"/>
          <a:ea typeface="+mn-ea"/>
          <a:cs typeface="+mn-cs"/>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p:bodyStyle>
    <p:otherStyle>
      <a:lvl1pPr marL="0">
        <a:defRPr>
          <a:latin typeface="+mn-lt"/>
          <a:ea typeface="+mn-ea"/>
          <a:cs typeface="+mn-cs"/>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11" name="object 11"/>
          <p:cNvSpPr txBox="1"/>
          <p:nvPr/>
        </p:nvSpPr>
        <p:spPr>
          <a:xfrm>
            <a:off x="2631275" y="1327518"/>
            <a:ext cx="4555587" cy="212947"/>
          </a:xfrm>
          <a:prstGeom prst="rect">
            <a:avLst/>
          </a:prstGeom>
        </p:spPr>
        <p:txBody>
          <a:bodyPr vert="horz" wrap="square" lIns="0" tIns="6354" rIns="0" bIns="0" rtlCol="0">
            <a:spAutoFit/>
          </a:bodyPr>
          <a:lstStyle/>
          <a:p>
            <a:pPr marL="5776" defTabSz="415869">
              <a:spcBef>
                <a:spcPts val="50"/>
              </a:spcBef>
              <a:tabLst>
                <a:tab pos="510884" algn="l"/>
                <a:tab pos="1249340" algn="l"/>
                <a:tab pos="1897403" algn="l"/>
              </a:tabLst>
            </a:pPr>
            <a:r>
              <a:rPr sz="1342" kern="0" spc="-127" dirty="0">
                <a:solidFill>
                  <a:srgbClr val="286DD1"/>
                </a:solidFill>
                <a:latin typeface="Arial MT"/>
                <a:cs typeface="Arial MT"/>
              </a:rPr>
              <a:t>C</a:t>
            </a:r>
            <a:r>
              <a:rPr sz="1342" kern="0" spc="-30" dirty="0">
                <a:solidFill>
                  <a:srgbClr val="286DD1"/>
                </a:solidFill>
                <a:latin typeface="Arial MT"/>
                <a:cs typeface="Arial MT"/>
              </a:rPr>
              <a:t> </a:t>
            </a:r>
            <a:r>
              <a:rPr sz="1342" kern="0" spc="-161" dirty="0">
                <a:solidFill>
                  <a:srgbClr val="2A67E4"/>
                </a:solidFill>
                <a:latin typeface="Arial MT"/>
                <a:cs typeface="Arial MT"/>
              </a:rPr>
              <a:t>S</a:t>
            </a:r>
            <a:r>
              <a:rPr sz="1342" kern="0" spc="-5" dirty="0">
                <a:solidFill>
                  <a:srgbClr val="2A67E4"/>
                </a:solidFill>
                <a:latin typeface="Arial MT"/>
                <a:cs typeface="Arial MT"/>
              </a:rPr>
              <a:t> </a:t>
            </a:r>
            <a:r>
              <a:rPr sz="1342" kern="0" spc="-239" dirty="0">
                <a:solidFill>
                  <a:srgbClr val="286BF6"/>
                </a:solidFill>
                <a:latin typeface="Arial MT"/>
                <a:cs typeface="Arial MT"/>
              </a:rPr>
              <a:t>E</a:t>
            </a:r>
            <a:r>
              <a:rPr lang="en-US" sz="1342" kern="0" spc="-239" dirty="0">
                <a:solidFill>
                  <a:srgbClr val="286BF6"/>
                </a:solidFill>
                <a:latin typeface="Arial MT"/>
                <a:cs typeface="Arial MT"/>
              </a:rPr>
              <a:t>      (</a:t>
            </a:r>
            <a:r>
              <a:rPr lang="en-US" sz="1342" kern="0" dirty="0">
                <a:solidFill>
                  <a:srgbClr val="286BF6"/>
                </a:solidFill>
                <a:latin typeface="Arial MT"/>
                <a:cs typeface="Arial MT"/>
              </a:rPr>
              <a:t> AI&amp;ML) </a:t>
            </a:r>
            <a:r>
              <a:rPr sz="1342" kern="0" spc="-132" dirty="0">
                <a:solidFill>
                  <a:srgbClr val="2860E1"/>
                </a:solidFill>
                <a:latin typeface="Arial MT"/>
                <a:cs typeface="Arial MT"/>
              </a:rPr>
              <a:t>F</a:t>
            </a:r>
            <a:r>
              <a:rPr sz="1342" kern="0" spc="-73" dirty="0">
                <a:solidFill>
                  <a:srgbClr val="2860E1"/>
                </a:solidFill>
                <a:latin typeface="Arial MT"/>
                <a:cs typeface="Arial MT"/>
              </a:rPr>
              <a:t> </a:t>
            </a:r>
            <a:r>
              <a:rPr sz="1342" kern="0" dirty="0">
                <a:solidFill>
                  <a:srgbClr val="1C67F6"/>
                </a:solidFill>
                <a:latin typeface="Arial MT"/>
                <a:cs typeface="Arial MT"/>
              </a:rPr>
              <a:t>I</a:t>
            </a:r>
            <a:r>
              <a:rPr sz="1342" kern="0" spc="-82" dirty="0">
                <a:solidFill>
                  <a:srgbClr val="1C67F6"/>
                </a:solidFill>
                <a:latin typeface="Arial MT"/>
                <a:cs typeface="Arial MT"/>
              </a:rPr>
              <a:t> </a:t>
            </a:r>
            <a:r>
              <a:rPr sz="1342" kern="0" dirty="0">
                <a:solidFill>
                  <a:srgbClr val="2866EB"/>
                </a:solidFill>
                <a:latin typeface="Arial MT"/>
                <a:cs typeface="Arial MT"/>
              </a:rPr>
              <a:t>N</a:t>
            </a:r>
            <a:r>
              <a:rPr sz="1342" kern="0" spc="-34" dirty="0">
                <a:solidFill>
                  <a:srgbClr val="2866EB"/>
                </a:solidFill>
                <a:latin typeface="Arial MT"/>
                <a:cs typeface="Arial MT"/>
              </a:rPr>
              <a:t> </a:t>
            </a:r>
            <a:r>
              <a:rPr sz="1342" kern="0" spc="-134" dirty="0">
                <a:solidFill>
                  <a:srgbClr val="1360DF"/>
                </a:solidFill>
                <a:latin typeface="Arial MT"/>
                <a:cs typeface="Arial MT"/>
              </a:rPr>
              <a:t>A</a:t>
            </a:r>
            <a:r>
              <a:rPr sz="1342" kern="0" spc="2" dirty="0">
                <a:solidFill>
                  <a:srgbClr val="1360DF"/>
                </a:solidFill>
                <a:latin typeface="Arial MT"/>
                <a:cs typeface="Arial MT"/>
              </a:rPr>
              <a:t> </a:t>
            </a:r>
            <a:r>
              <a:rPr lang="en-US" sz="1342" kern="0" spc="-23" dirty="0">
                <a:solidFill>
                  <a:srgbClr val="1A64F9"/>
                </a:solidFill>
                <a:latin typeface="Arial MT"/>
                <a:cs typeface="Arial MT"/>
              </a:rPr>
              <a:t>L </a:t>
            </a:r>
            <a:r>
              <a:rPr sz="1342" kern="0" spc="-171" dirty="0">
                <a:solidFill>
                  <a:srgbClr val="2F6EE6"/>
                </a:solidFill>
                <a:latin typeface="Arial MT"/>
                <a:cs typeface="Arial MT"/>
              </a:rPr>
              <a:t>Y</a:t>
            </a:r>
            <a:r>
              <a:rPr sz="1342" kern="0" spc="2" dirty="0">
                <a:solidFill>
                  <a:srgbClr val="2F6EE6"/>
                </a:solidFill>
                <a:latin typeface="Arial MT"/>
                <a:cs typeface="Arial MT"/>
              </a:rPr>
              <a:t> </a:t>
            </a:r>
            <a:r>
              <a:rPr sz="1342" kern="0" spc="-216" dirty="0">
                <a:solidFill>
                  <a:srgbClr val="2460F4"/>
                </a:solidFill>
                <a:latin typeface="Arial MT"/>
                <a:cs typeface="Arial MT"/>
              </a:rPr>
              <a:t>E</a:t>
            </a:r>
            <a:r>
              <a:rPr sz="1342" kern="0" spc="93" dirty="0">
                <a:solidFill>
                  <a:srgbClr val="2460F4"/>
                </a:solidFill>
                <a:latin typeface="Arial MT"/>
                <a:cs typeface="Arial MT"/>
              </a:rPr>
              <a:t> </a:t>
            </a:r>
            <a:r>
              <a:rPr sz="1342" kern="0" spc="-161" dirty="0">
                <a:solidFill>
                  <a:srgbClr val="2167F2"/>
                </a:solidFill>
                <a:latin typeface="Arial MT"/>
                <a:cs typeface="Arial MT"/>
              </a:rPr>
              <a:t>A</a:t>
            </a:r>
            <a:r>
              <a:rPr sz="1342" kern="0" spc="-7" dirty="0">
                <a:solidFill>
                  <a:srgbClr val="2167F2"/>
                </a:solidFill>
                <a:latin typeface="Arial MT"/>
                <a:cs typeface="Arial MT"/>
              </a:rPr>
              <a:t> </a:t>
            </a:r>
            <a:r>
              <a:rPr sz="1342" kern="0" spc="-275" dirty="0">
                <a:solidFill>
                  <a:srgbClr val="1C64FF"/>
                </a:solidFill>
                <a:latin typeface="Arial MT"/>
                <a:cs typeface="Arial MT"/>
              </a:rPr>
              <a:t>R</a:t>
            </a:r>
            <a:r>
              <a:rPr lang="en-US" sz="1342" kern="0" spc="-275" dirty="0">
                <a:solidFill>
                  <a:srgbClr val="1C64FF"/>
                </a:solidFill>
                <a:latin typeface="Arial MT"/>
                <a:cs typeface="Arial MT"/>
              </a:rPr>
              <a:t>        </a:t>
            </a:r>
            <a:r>
              <a:rPr sz="1342" kern="0" spc="-161" dirty="0">
                <a:solidFill>
                  <a:srgbClr val="2169E2"/>
                </a:solidFill>
                <a:latin typeface="Arial MT"/>
                <a:cs typeface="Arial MT"/>
              </a:rPr>
              <a:t>P</a:t>
            </a:r>
            <a:r>
              <a:rPr sz="1342" kern="0" spc="11" dirty="0">
                <a:solidFill>
                  <a:srgbClr val="2169E2"/>
                </a:solidFill>
                <a:latin typeface="Arial MT"/>
                <a:cs typeface="Arial MT"/>
              </a:rPr>
              <a:t> </a:t>
            </a:r>
            <a:r>
              <a:rPr sz="1342" kern="0" spc="-252" dirty="0">
                <a:solidFill>
                  <a:srgbClr val="1F66FB"/>
                </a:solidFill>
                <a:latin typeface="Arial MT"/>
                <a:cs typeface="Arial MT"/>
              </a:rPr>
              <a:t>R</a:t>
            </a:r>
            <a:r>
              <a:rPr sz="1342" kern="0" spc="43" dirty="0">
                <a:solidFill>
                  <a:srgbClr val="1F66FB"/>
                </a:solidFill>
                <a:latin typeface="Arial MT"/>
                <a:cs typeface="Arial MT"/>
              </a:rPr>
              <a:t> </a:t>
            </a:r>
            <a:r>
              <a:rPr sz="1342" kern="0" spc="-180" dirty="0">
                <a:solidFill>
                  <a:srgbClr val="2460DD"/>
                </a:solidFill>
                <a:latin typeface="Arial MT"/>
                <a:cs typeface="Arial MT"/>
              </a:rPr>
              <a:t>O</a:t>
            </a:r>
            <a:r>
              <a:rPr sz="1342" kern="0" spc="23" dirty="0">
                <a:solidFill>
                  <a:srgbClr val="2460DD"/>
                </a:solidFill>
                <a:latin typeface="Arial MT"/>
                <a:cs typeface="Arial MT"/>
              </a:rPr>
              <a:t> </a:t>
            </a:r>
            <a:r>
              <a:rPr sz="1342" kern="0" dirty="0">
                <a:solidFill>
                  <a:srgbClr val="265BE2"/>
                </a:solidFill>
                <a:latin typeface="Arial MT"/>
                <a:cs typeface="Arial MT"/>
              </a:rPr>
              <a:t>J</a:t>
            </a:r>
            <a:r>
              <a:rPr sz="1342" kern="0" spc="-70" dirty="0">
                <a:solidFill>
                  <a:srgbClr val="265BE2"/>
                </a:solidFill>
                <a:latin typeface="Arial MT"/>
                <a:cs typeface="Arial MT"/>
              </a:rPr>
              <a:t> </a:t>
            </a:r>
            <a:r>
              <a:rPr sz="1342" kern="0" spc="-216" dirty="0">
                <a:solidFill>
                  <a:srgbClr val="286BF6"/>
                </a:solidFill>
                <a:latin typeface="Arial MT"/>
                <a:cs typeface="Arial MT"/>
              </a:rPr>
              <a:t>E</a:t>
            </a:r>
            <a:r>
              <a:rPr sz="1342" kern="0" spc="23" dirty="0">
                <a:solidFill>
                  <a:srgbClr val="286BF6"/>
                </a:solidFill>
                <a:latin typeface="Arial MT"/>
                <a:cs typeface="Arial MT"/>
              </a:rPr>
              <a:t> </a:t>
            </a:r>
            <a:r>
              <a:rPr sz="1342" kern="0" spc="-127" dirty="0">
                <a:solidFill>
                  <a:srgbClr val="216EE4"/>
                </a:solidFill>
                <a:latin typeface="Arial MT"/>
                <a:cs typeface="Arial MT"/>
              </a:rPr>
              <a:t>C</a:t>
            </a:r>
            <a:r>
              <a:rPr sz="1342" kern="0" spc="-5" dirty="0">
                <a:solidFill>
                  <a:srgbClr val="216EE4"/>
                </a:solidFill>
                <a:latin typeface="Arial MT"/>
                <a:cs typeface="Arial MT"/>
              </a:rPr>
              <a:t> </a:t>
            </a:r>
            <a:r>
              <a:rPr sz="1342" kern="0" spc="-139" dirty="0">
                <a:solidFill>
                  <a:srgbClr val="2662F9"/>
                </a:solidFill>
                <a:latin typeface="Arial MT"/>
                <a:cs typeface="Arial MT"/>
              </a:rPr>
              <a:t>T</a:t>
            </a:r>
            <a:endParaRPr sz="1342" kern="0" dirty="0">
              <a:solidFill>
                <a:sysClr val="windowText" lastClr="000000"/>
              </a:solidFill>
              <a:latin typeface="Arial MT"/>
              <a:cs typeface="Arial MT"/>
            </a:endParaRPr>
          </a:p>
        </p:txBody>
      </p:sp>
      <p:sp>
        <p:nvSpPr>
          <p:cNvPr id="12" name="object 12"/>
          <p:cNvSpPr txBox="1">
            <a:spLocks noGrp="1"/>
          </p:cNvSpPr>
          <p:nvPr>
            <p:ph type="title"/>
          </p:nvPr>
        </p:nvSpPr>
        <p:spPr>
          <a:xfrm>
            <a:off x="1300986" y="1550261"/>
            <a:ext cx="6527422" cy="1110203"/>
          </a:xfrm>
          <a:prstGeom prst="rect">
            <a:avLst/>
          </a:prstGeom>
        </p:spPr>
        <p:txBody>
          <a:bodyPr vert="horz" wrap="square" lIns="0" tIns="119851" rIns="0" bIns="0" rtlCol="0">
            <a:spAutoFit/>
          </a:bodyPr>
          <a:lstStyle/>
          <a:p>
            <a:pPr marL="5776" marR="2310" algn="ctr">
              <a:lnSpc>
                <a:spcPct val="150000"/>
              </a:lnSpc>
              <a:spcBef>
                <a:spcPts val="944"/>
              </a:spcBef>
            </a:pPr>
            <a:r>
              <a:rPr lang="en-US" sz="1455" b="1" dirty="0"/>
              <a:t>Automated Root Cause Analysis in Distributed Microservices Systems </a:t>
            </a:r>
            <a:br>
              <a:rPr lang="en-US" sz="1455" b="1" dirty="0"/>
            </a:br>
            <a:r>
              <a:rPr lang="en-US" sz="1455" b="1" dirty="0"/>
              <a:t>Using Hybrid AI Techniques</a:t>
            </a:r>
            <a:br>
              <a:rPr lang="en-US" sz="1455" b="1" dirty="0"/>
            </a:br>
            <a:r>
              <a:rPr sz="1569" spc="-5" dirty="0">
                <a:solidFill>
                  <a:schemeClr val="tx1"/>
                </a:solidFill>
              </a:rPr>
              <a:t>Department</a:t>
            </a:r>
            <a:r>
              <a:rPr lang="en-US" sz="1569" spc="-5" dirty="0">
                <a:solidFill>
                  <a:schemeClr val="tx1"/>
                </a:solidFill>
              </a:rPr>
              <a:t> </a:t>
            </a:r>
            <a:r>
              <a:rPr sz="1569" dirty="0">
                <a:solidFill>
                  <a:schemeClr val="tx1"/>
                </a:solidFill>
              </a:rPr>
              <a:t>of</a:t>
            </a:r>
            <a:r>
              <a:rPr sz="1569" spc="-84" dirty="0">
                <a:solidFill>
                  <a:schemeClr val="tx1"/>
                </a:solidFill>
              </a:rPr>
              <a:t> </a:t>
            </a:r>
            <a:r>
              <a:rPr sz="1569" spc="-9" dirty="0">
                <a:solidFill>
                  <a:schemeClr val="tx1"/>
                </a:solidFill>
              </a:rPr>
              <a:t>Computer</a:t>
            </a:r>
            <a:r>
              <a:rPr sz="1569" spc="100" dirty="0">
                <a:solidFill>
                  <a:schemeClr val="tx1"/>
                </a:solidFill>
              </a:rPr>
              <a:t> </a:t>
            </a:r>
            <a:r>
              <a:rPr sz="1569" spc="-11" dirty="0">
                <a:solidFill>
                  <a:schemeClr val="tx1"/>
                </a:solidFill>
              </a:rPr>
              <a:t>Science</a:t>
            </a:r>
            <a:r>
              <a:rPr sz="1569" spc="-23" dirty="0">
                <a:solidFill>
                  <a:schemeClr val="tx1"/>
                </a:solidFill>
              </a:rPr>
              <a:t> </a:t>
            </a:r>
            <a:r>
              <a:rPr sz="1569" spc="-168" dirty="0">
                <a:solidFill>
                  <a:schemeClr val="tx1"/>
                </a:solidFill>
              </a:rPr>
              <a:t>&amp;</a:t>
            </a:r>
            <a:r>
              <a:rPr sz="1569" spc="27" dirty="0">
                <a:solidFill>
                  <a:schemeClr val="tx1"/>
                </a:solidFill>
              </a:rPr>
              <a:t> </a:t>
            </a:r>
            <a:r>
              <a:rPr sz="1569" spc="-5" dirty="0">
                <a:solidFill>
                  <a:schemeClr val="tx1"/>
                </a:solidFill>
              </a:rPr>
              <a:t>Engineering</a:t>
            </a:r>
            <a:r>
              <a:rPr lang="en-US" sz="1569" spc="-5" dirty="0">
                <a:solidFill>
                  <a:schemeClr val="tx1"/>
                </a:solidFill>
              </a:rPr>
              <a:t> (AI &amp; ML)</a:t>
            </a:r>
            <a:endParaRPr sz="1569" dirty="0">
              <a:solidFill>
                <a:schemeClr val="tx1"/>
              </a:solidFill>
            </a:endParaRPr>
          </a:p>
        </p:txBody>
      </p:sp>
      <p:pic>
        <p:nvPicPr>
          <p:cNvPr id="4098" name="Picture 2">
            <a:extLst>
              <a:ext uri="{FF2B5EF4-FFF2-40B4-BE49-F238E27FC236}">
                <a16:creationId xmlns:a16="http://schemas.microsoft.com/office/drawing/2014/main" id="{5195EE51-8AA8-998A-774D-2EAAC38797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151" y="-63631"/>
            <a:ext cx="7693590" cy="1530444"/>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6C6A997-23C6-79B7-B71B-CC7DF7A0D309}"/>
              </a:ext>
            </a:extLst>
          </p:cNvPr>
          <p:cNvSpPr txBox="1"/>
          <p:nvPr/>
        </p:nvSpPr>
        <p:spPr>
          <a:xfrm>
            <a:off x="354056" y="3182775"/>
            <a:ext cx="3775257" cy="1721112"/>
          </a:xfrm>
          <a:prstGeom prst="rect">
            <a:avLst/>
          </a:prstGeom>
          <a:noFill/>
        </p:spPr>
        <p:txBody>
          <a:bodyPr wrap="square" rtlCol="0">
            <a:spAutoFit/>
          </a:bodyPr>
          <a:lstStyle/>
          <a:p>
            <a:pPr>
              <a:lnSpc>
                <a:spcPct val="150000"/>
              </a:lnSpc>
            </a:pPr>
            <a:r>
              <a:rPr lang="en-IN" sz="1200" b="1" dirty="0">
                <a:latin typeface="Times New Roman" panose="02020603050405020304" pitchFamily="18" charset="0"/>
              </a:rPr>
              <a:t>TEAM MEMBERS:</a:t>
            </a:r>
          </a:p>
          <a:p>
            <a:pPr>
              <a:lnSpc>
                <a:spcPct val="150000"/>
              </a:lnSpc>
            </a:pPr>
            <a:r>
              <a:rPr lang="en-IN" sz="1200" dirty="0">
                <a:latin typeface="Times New Roman" panose="02020603050405020304" pitchFamily="18" charset="0"/>
              </a:rPr>
              <a:t>G. Siva </a:t>
            </a:r>
            <a:r>
              <a:rPr lang="en-IN" sz="1200" dirty="0" err="1">
                <a:latin typeface="Times New Roman" panose="02020603050405020304" pitchFamily="18" charset="0"/>
              </a:rPr>
              <a:t>surya</a:t>
            </a:r>
            <a:r>
              <a:rPr lang="en-IN" sz="1200" dirty="0">
                <a:latin typeface="Times New Roman" panose="02020603050405020304" pitchFamily="18" charset="0"/>
              </a:rPr>
              <a:t> </a:t>
            </a:r>
            <a:r>
              <a:rPr lang="en-IN" sz="1200" dirty="0" err="1">
                <a:latin typeface="Times New Roman" panose="02020603050405020304" pitchFamily="18" charset="0"/>
              </a:rPr>
              <a:t>naidu</a:t>
            </a:r>
            <a:r>
              <a:rPr lang="en-IN" sz="1200" dirty="0">
                <a:latin typeface="Times New Roman" panose="02020603050405020304" pitchFamily="18" charset="0"/>
              </a:rPr>
              <a:t>                (Regd. No: 22991A4217)</a:t>
            </a:r>
          </a:p>
          <a:p>
            <a:pPr>
              <a:lnSpc>
                <a:spcPct val="150000"/>
              </a:lnSpc>
            </a:pPr>
            <a:r>
              <a:rPr lang="en-IN" sz="1200" dirty="0">
                <a:latin typeface="Times New Roman" panose="02020603050405020304" pitchFamily="18" charset="0"/>
              </a:rPr>
              <a:t>B. Devi                                   (Regd. No: 22991A4231)</a:t>
            </a:r>
          </a:p>
          <a:p>
            <a:pPr>
              <a:lnSpc>
                <a:spcPct val="150000"/>
              </a:lnSpc>
            </a:pPr>
            <a:r>
              <a:rPr lang="en-IN" sz="1200" dirty="0">
                <a:latin typeface="Times New Roman" panose="02020603050405020304" pitchFamily="18" charset="0"/>
              </a:rPr>
              <a:t>S. Triveni                                (Regd. No: 22991A4229)</a:t>
            </a:r>
          </a:p>
          <a:p>
            <a:pPr>
              <a:lnSpc>
                <a:spcPct val="150000"/>
              </a:lnSpc>
            </a:pPr>
            <a:r>
              <a:rPr lang="en-IN" sz="1200" dirty="0">
                <a:latin typeface="Times New Roman" panose="02020603050405020304" pitchFamily="18" charset="0"/>
              </a:rPr>
              <a:t>P. Vaikunta rao                       (Regd. No: 22991A4221)</a:t>
            </a:r>
          </a:p>
          <a:p>
            <a:pPr>
              <a:lnSpc>
                <a:spcPct val="150000"/>
              </a:lnSpc>
            </a:pPr>
            <a:r>
              <a:rPr lang="en-IN" sz="1200" dirty="0">
                <a:latin typeface="Times New Roman" panose="02020603050405020304" pitchFamily="18" charset="0"/>
              </a:rPr>
              <a:t>S. Hemanth Kumar                (Regd. No: 22991A4228)</a:t>
            </a:r>
          </a:p>
        </p:txBody>
      </p:sp>
      <p:sp>
        <p:nvSpPr>
          <p:cNvPr id="19" name="TextBox 18">
            <a:extLst>
              <a:ext uri="{FF2B5EF4-FFF2-40B4-BE49-F238E27FC236}">
                <a16:creationId xmlns:a16="http://schemas.microsoft.com/office/drawing/2014/main" id="{B0C2D555-9D10-08C5-5B2A-7957B736D3DF}"/>
              </a:ext>
            </a:extLst>
          </p:cNvPr>
          <p:cNvSpPr txBox="1"/>
          <p:nvPr/>
        </p:nvSpPr>
        <p:spPr>
          <a:xfrm>
            <a:off x="5174166" y="3961358"/>
            <a:ext cx="3315629" cy="523220"/>
          </a:xfrm>
          <a:prstGeom prst="rect">
            <a:avLst/>
          </a:prstGeom>
          <a:noFill/>
        </p:spPr>
        <p:txBody>
          <a:bodyPr wrap="square" rtlCol="0">
            <a:spAutoFit/>
          </a:bodyPr>
          <a:lstStyle/>
          <a:p>
            <a:pPr algn="ctr"/>
            <a:r>
              <a:rPr lang="en-US" sz="1400" b="1" dirty="0">
                <a:latin typeface="Times New Roman" panose="02020603050405020304" pitchFamily="18" charset="0"/>
              </a:rPr>
              <a:t>Guided By:</a:t>
            </a:r>
          </a:p>
          <a:p>
            <a:pPr algn="ctr"/>
            <a:r>
              <a:rPr lang="en-IN" sz="1400" b="1" dirty="0" err="1">
                <a:latin typeface="Times New Roman" panose="02020603050405020304" pitchFamily="18" charset="0"/>
              </a:rPr>
              <a:t>A.Krishnaveni</a:t>
            </a:r>
            <a:r>
              <a:rPr lang="en-IN" sz="1400" b="1" dirty="0">
                <a:latin typeface="Times New Roman" panose="02020603050405020304" pitchFamily="18" charset="0"/>
              </a:rPr>
              <a:t>, </a:t>
            </a:r>
            <a:r>
              <a:rPr lang="en-IN" sz="1400" b="1" dirty="0" err="1">
                <a:latin typeface="Times New Roman" panose="02020603050405020304" pitchFamily="18" charset="0"/>
              </a:rPr>
              <a:t>M.Tech</a:t>
            </a:r>
            <a:endParaRPr lang="en-IN" sz="1400" b="1" dirty="0">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4288" y="0"/>
            <a:ext cx="9158288" cy="5143500"/>
          </a:xfrm>
          <a:prstGeom prst="rect">
            <a:avLst/>
          </a:prstGeom>
        </p:spPr>
      </p:pic>
      <p:sp>
        <p:nvSpPr>
          <p:cNvPr id="3" name="Text 0"/>
          <p:cNvSpPr/>
          <p:nvPr/>
        </p:nvSpPr>
        <p:spPr>
          <a:xfrm>
            <a:off x="337851" y="773580"/>
            <a:ext cx="862608" cy="282129"/>
          </a:xfrm>
          <a:prstGeom prst="rect">
            <a:avLst/>
          </a:prstGeom>
          <a:noFill/>
          <a:ln/>
        </p:spPr>
        <p:txBody>
          <a:bodyPr wrap="none" lIns="170053" tIns="0" rIns="0" bIns="0" rtlCol="0" anchor="t">
            <a:spAutoFit/>
          </a:bodyPr>
          <a:lstStyle/>
          <a:p>
            <a:pPr marL="0" indent="0" algn="l">
              <a:lnSpc>
                <a:spcPts val="2200"/>
              </a:lnSpc>
              <a:buNone/>
            </a:pPr>
            <a:r>
              <a:rPr lang="en-US" sz="2000" b="1" dirty="0">
                <a:solidFill>
                  <a:srgbClr val="1A1A1A"/>
                </a:solidFill>
                <a:latin typeface="Times New Roman" panose="02020603050405020304" pitchFamily="18" charset="0"/>
              </a:rPr>
              <a:t> Index</a:t>
            </a:r>
            <a:endParaRPr lang="en-US" sz="2000" dirty="0">
              <a:latin typeface="Times New Roman" panose="02020603050405020304" pitchFamily="18" charset="0"/>
            </a:endParaRPr>
          </a:p>
        </p:txBody>
      </p:sp>
      <p:sp>
        <p:nvSpPr>
          <p:cNvPr id="4" name="Text 1"/>
          <p:cNvSpPr/>
          <p:nvPr/>
        </p:nvSpPr>
        <p:spPr>
          <a:xfrm>
            <a:off x="564356" y="1252361"/>
            <a:ext cx="182742"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01</a:t>
            </a:r>
            <a:endParaRPr lang="en-US" sz="1400" dirty="0">
              <a:latin typeface="Times New Roman" panose="02020603050405020304" pitchFamily="18" charset="0"/>
            </a:endParaRPr>
          </a:p>
        </p:txBody>
      </p:sp>
      <p:sp>
        <p:nvSpPr>
          <p:cNvPr id="5" name="Text 2"/>
          <p:cNvSpPr/>
          <p:nvPr/>
        </p:nvSpPr>
        <p:spPr>
          <a:xfrm>
            <a:off x="900364" y="1284508"/>
            <a:ext cx="649088" cy="205184"/>
          </a:xfrm>
          <a:prstGeom prst="rect">
            <a:avLst/>
          </a:prstGeom>
          <a:noFill/>
          <a:ln/>
        </p:spPr>
        <p:txBody>
          <a:bodyPr wrap="none" lIns="0" tIns="0" rIns="0" bIns="0" rtlCol="0" anchor="t">
            <a:spAutoFit/>
          </a:bodyPr>
          <a:lstStyle/>
          <a:p>
            <a:pPr marL="0" indent="0" algn="l">
              <a:lnSpc>
                <a:spcPts val="1600"/>
              </a:lnSpc>
              <a:buNone/>
            </a:pPr>
            <a:r>
              <a:rPr lang="en-US" sz="1400" dirty="0">
                <a:solidFill>
                  <a:srgbClr val="333333"/>
                </a:solidFill>
                <a:latin typeface="Times New Roman" panose="02020603050405020304" pitchFamily="18" charset="0"/>
                <a:cs typeface="Times New Roman" panose="02020603050405020304" pitchFamily="18" charset="0"/>
              </a:rPr>
              <a:t>Abstract </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4779169" y="1252361"/>
            <a:ext cx="182742"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07</a:t>
            </a:r>
            <a:endParaRPr lang="en-US" sz="1400" dirty="0">
              <a:latin typeface="Times New Roman" panose="02020603050405020304" pitchFamily="18" charset="0"/>
            </a:endParaRPr>
          </a:p>
        </p:txBody>
      </p:sp>
      <p:sp>
        <p:nvSpPr>
          <p:cNvPr id="7" name="Text 4"/>
          <p:cNvSpPr/>
          <p:nvPr/>
        </p:nvSpPr>
        <p:spPr>
          <a:xfrm>
            <a:off x="5115176" y="1284508"/>
            <a:ext cx="2952731" cy="205184"/>
          </a:xfrm>
          <a:prstGeom prst="rect">
            <a:avLst/>
          </a:prstGeom>
          <a:noFill/>
          <a:ln/>
        </p:spPr>
        <p:txBody>
          <a:bodyPr wrap="none" lIns="0" tIns="0" rIns="0" bIns="0" rtlCol="0" anchor="t">
            <a:spAutoFit/>
          </a:bodyPr>
          <a:lstStyle/>
          <a:p>
            <a:pPr marL="0" indent="0" algn="l">
              <a:lnSpc>
                <a:spcPts val="1600"/>
              </a:lnSpc>
              <a:buNone/>
            </a:pPr>
            <a:r>
              <a:rPr lang="en-US" sz="1400" dirty="0">
                <a:solidFill>
                  <a:srgbClr val="333333"/>
                </a:solidFill>
                <a:latin typeface="Times New Roman" panose="02020603050405020304" pitchFamily="18" charset="0"/>
                <a:cs typeface="Times New Roman" panose="02020603050405020304" pitchFamily="18" charset="0"/>
              </a:rPr>
              <a:t>Methodology: Failure Prediction &amp; RCA</a:t>
            </a:r>
          </a:p>
        </p:txBody>
      </p:sp>
      <p:sp>
        <p:nvSpPr>
          <p:cNvPr id="8" name="Text 5"/>
          <p:cNvSpPr/>
          <p:nvPr/>
        </p:nvSpPr>
        <p:spPr>
          <a:xfrm>
            <a:off x="564356" y="1654197"/>
            <a:ext cx="182742"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02</a:t>
            </a:r>
            <a:endParaRPr lang="en-US" sz="1400" dirty="0">
              <a:latin typeface="Times New Roman" panose="02020603050405020304" pitchFamily="18" charset="0"/>
            </a:endParaRPr>
          </a:p>
        </p:txBody>
      </p:sp>
      <p:sp>
        <p:nvSpPr>
          <p:cNvPr id="9" name="Text 6"/>
          <p:cNvSpPr/>
          <p:nvPr/>
        </p:nvSpPr>
        <p:spPr>
          <a:xfrm>
            <a:off x="900363" y="1686344"/>
            <a:ext cx="909160" cy="205184"/>
          </a:xfrm>
          <a:prstGeom prst="rect">
            <a:avLst/>
          </a:prstGeom>
          <a:noFill/>
          <a:ln/>
        </p:spPr>
        <p:txBody>
          <a:bodyPr wrap="none" lIns="0" tIns="0" rIns="0" bIns="0" rtlCol="0" anchor="t">
            <a:spAutoFit/>
          </a:bodyPr>
          <a:lstStyle/>
          <a:p>
            <a:pPr marL="0" indent="0" algn="l">
              <a:lnSpc>
                <a:spcPts val="1600"/>
              </a:lnSpc>
              <a:buNone/>
            </a:pPr>
            <a:r>
              <a:rPr lang="en-US" sz="1400" dirty="0">
                <a:solidFill>
                  <a:schemeClr val="tx1">
                    <a:lumMod val="75000"/>
                    <a:lumOff val="25000"/>
                  </a:schemeClr>
                </a:solidFill>
                <a:latin typeface="Times New Roman" panose="02020603050405020304" pitchFamily="18" charset="0"/>
                <a:cs typeface="Times New Roman" panose="02020603050405020304" pitchFamily="18" charset="0"/>
              </a:rPr>
              <a:t>Introduction</a:t>
            </a:r>
          </a:p>
        </p:txBody>
      </p:sp>
      <p:sp>
        <p:nvSpPr>
          <p:cNvPr id="10" name="Text 7"/>
          <p:cNvSpPr/>
          <p:nvPr/>
        </p:nvSpPr>
        <p:spPr>
          <a:xfrm>
            <a:off x="4779169" y="1654197"/>
            <a:ext cx="182742"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08</a:t>
            </a:r>
            <a:endParaRPr lang="en-US" sz="1400" dirty="0">
              <a:latin typeface="Times New Roman" panose="02020603050405020304" pitchFamily="18" charset="0"/>
            </a:endParaRPr>
          </a:p>
        </p:txBody>
      </p:sp>
      <p:sp>
        <p:nvSpPr>
          <p:cNvPr id="11" name="Text 8"/>
          <p:cNvSpPr/>
          <p:nvPr/>
        </p:nvSpPr>
        <p:spPr>
          <a:xfrm>
            <a:off x="5115176" y="1686344"/>
            <a:ext cx="3061736" cy="205184"/>
          </a:xfrm>
          <a:prstGeom prst="rect">
            <a:avLst/>
          </a:prstGeom>
          <a:noFill/>
          <a:ln/>
        </p:spPr>
        <p:txBody>
          <a:bodyPr wrap="none" lIns="0" tIns="0" rIns="0" bIns="0" rtlCol="0" anchor="t">
            <a:spAutoFit/>
          </a:bodyPr>
          <a:lstStyle/>
          <a:p>
            <a:pPr marL="0" indent="0" algn="l">
              <a:lnSpc>
                <a:spcPts val="1600"/>
              </a:lnSpc>
              <a:buNone/>
            </a:pPr>
            <a:r>
              <a:rPr lang="en-US" sz="1400" dirty="0">
                <a:solidFill>
                  <a:srgbClr val="333333"/>
                </a:solidFill>
                <a:latin typeface="Times New Roman" panose="02020603050405020304" pitchFamily="18" charset="0"/>
                <a:cs typeface="Times New Roman" panose="02020603050405020304" pitchFamily="18" charset="0"/>
              </a:rPr>
              <a:t>Methodology: Explainability &amp; Data Flow</a:t>
            </a:r>
          </a:p>
        </p:txBody>
      </p:sp>
      <p:sp>
        <p:nvSpPr>
          <p:cNvPr id="12" name="Text 9"/>
          <p:cNvSpPr/>
          <p:nvPr/>
        </p:nvSpPr>
        <p:spPr>
          <a:xfrm>
            <a:off x="564356" y="2056033"/>
            <a:ext cx="182742"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03</a:t>
            </a:r>
            <a:endParaRPr lang="en-US" sz="1400" dirty="0">
              <a:latin typeface="Times New Roman" panose="02020603050405020304" pitchFamily="18" charset="0"/>
            </a:endParaRPr>
          </a:p>
        </p:txBody>
      </p:sp>
      <p:sp>
        <p:nvSpPr>
          <p:cNvPr id="13" name="Text 10"/>
          <p:cNvSpPr/>
          <p:nvPr/>
        </p:nvSpPr>
        <p:spPr>
          <a:xfrm>
            <a:off x="900364" y="2088180"/>
            <a:ext cx="2662893" cy="205183"/>
          </a:xfrm>
          <a:prstGeom prst="rect">
            <a:avLst/>
          </a:prstGeom>
          <a:noFill/>
          <a:ln/>
        </p:spPr>
        <p:txBody>
          <a:bodyPr wrap="square" lIns="0" tIns="0" rIns="0" bIns="0" rtlCol="0" anchor="t">
            <a:spAutoFit/>
          </a:bodyPr>
          <a:lstStyle/>
          <a:p>
            <a:pPr marL="0" indent="0" algn="l">
              <a:lnSpc>
                <a:spcPts val="1600"/>
              </a:lnSpc>
              <a:buNone/>
            </a:pPr>
            <a:r>
              <a:rPr lang="en-US" sz="1400" dirty="0">
                <a:solidFill>
                  <a:srgbClr val="333333"/>
                </a:solidFill>
                <a:latin typeface="Times New Roman" panose="02020603050405020304" pitchFamily="18" charset="0"/>
                <a:cs typeface="Times New Roman" panose="02020603050405020304" pitchFamily="18" charset="0"/>
              </a:rPr>
              <a:t>Literature Review &amp; Research Gap</a:t>
            </a:r>
          </a:p>
        </p:txBody>
      </p:sp>
      <p:sp>
        <p:nvSpPr>
          <p:cNvPr id="14" name="Text 11"/>
          <p:cNvSpPr/>
          <p:nvPr/>
        </p:nvSpPr>
        <p:spPr>
          <a:xfrm>
            <a:off x="4779169" y="2056033"/>
            <a:ext cx="182742"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09</a:t>
            </a:r>
            <a:endParaRPr lang="en-US" sz="1400" dirty="0">
              <a:latin typeface="Times New Roman" panose="02020603050405020304" pitchFamily="18" charset="0"/>
            </a:endParaRPr>
          </a:p>
        </p:txBody>
      </p:sp>
      <p:sp>
        <p:nvSpPr>
          <p:cNvPr id="15" name="Text 12"/>
          <p:cNvSpPr/>
          <p:nvPr/>
        </p:nvSpPr>
        <p:spPr>
          <a:xfrm>
            <a:off x="5115176" y="2088180"/>
            <a:ext cx="2082558" cy="205184"/>
          </a:xfrm>
          <a:prstGeom prst="rect">
            <a:avLst/>
          </a:prstGeom>
          <a:noFill/>
          <a:ln/>
        </p:spPr>
        <p:txBody>
          <a:bodyPr wrap="none" lIns="0" tIns="0" rIns="0" bIns="0" rtlCol="0" anchor="t">
            <a:spAutoFit/>
          </a:bodyPr>
          <a:lstStyle/>
          <a:p>
            <a:pPr marL="0" indent="0" algn="l">
              <a:lnSpc>
                <a:spcPts val="1600"/>
              </a:lnSpc>
              <a:buNone/>
            </a:pPr>
            <a:r>
              <a:rPr lang="en-US" sz="1400" dirty="0">
                <a:solidFill>
                  <a:srgbClr val="333333"/>
                </a:solidFill>
                <a:latin typeface="Times New Roman" panose="02020603050405020304" pitchFamily="18" charset="0"/>
                <a:cs typeface="Times New Roman" panose="02020603050405020304" pitchFamily="18" charset="0"/>
              </a:rPr>
              <a:t>Technologies &amp; Frameworks</a:t>
            </a:r>
          </a:p>
        </p:txBody>
      </p:sp>
      <p:sp>
        <p:nvSpPr>
          <p:cNvPr id="16" name="Text 13"/>
          <p:cNvSpPr/>
          <p:nvPr/>
        </p:nvSpPr>
        <p:spPr>
          <a:xfrm>
            <a:off x="564356" y="2457869"/>
            <a:ext cx="182742"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04</a:t>
            </a:r>
            <a:endParaRPr lang="en-US" sz="1400" dirty="0">
              <a:latin typeface="Times New Roman" panose="02020603050405020304" pitchFamily="18" charset="0"/>
            </a:endParaRPr>
          </a:p>
        </p:txBody>
      </p:sp>
      <p:sp>
        <p:nvSpPr>
          <p:cNvPr id="17" name="Text 14"/>
          <p:cNvSpPr/>
          <p:nvPr/>
        </p:nvSpPr>
        <p:spPr>
          <a:xfrm>
            <a:off x="900364" y="2490015"/>
            <a:ext cx="1328505" cy="205184"/>
          </a:xfrm>
          <a:prstGeom prst="rect">
            <a:avLst/>
          </a:prstGeom>
          <a:noFill/>
          <a:ln/>
        </p:spPr>
        <p:txBody>
          <a:bodyPr wrap="none" lIns="0" tIns="0" rIns="0" bIns="0" rtlCol="0" anchor="t">
            <a:spAutoFit/>
          </a:bodyPr>
          <a:lstStyle/>
          <a:p>
            <a:pPr marL="0" indent="0" algn="l">
              <a:lnSpc>
                <a:spcPts val="1600"/>
              </a:lnSpc>
              <a:buNone/>
            </a:pPr>
            <a:r>
              <a:rPr lang="en-US" sz="1400" dirty="0">
                <a:solidFill>
                  <a:schemeClr val="tx1">
                    <a:lumMod val="75000"/>
                    <a:lumOff val="25000"/>
                  </a:schemeClr>
                </a:solidFill>
                <a:latin typeface="Times New Roman" panose="02020603050405020304" pitchFamily="18" charset="0"/>
                <a:cs typeface="Times New Roman" panose="02020603050405020304" pitchFamily="18" charset="0"/>
              </a:rPr>
              <a:t>Problem </a:t>
            </a:r>
            <a:r>
              <a:rPr lang="en-US" sz="1400" dirty="0" err="1">
                <a:solidFill>
                  <a:schemeClr val="tx1">
                    <a:lumMod val="75000"/>
                    <a:lumOff val="25000"/>
                  </a:schemeClr>
                </a:solidFill>
                <a:latin typeface="Times New Roman" panose="02020603050405020304" pitchFamily="18" charset="0"/>
                <a:cs typeface="Times New Roman" panose="02020603050405020304" pitchFamily="18" charset="0"/>
              </a:rPr>
              <a:t>Statment</a:t>
            </a:r>
            <a:endParaRPr lang="en-US" sz="14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8" name="Text 15"/>
          <p:cNvSpPr/>
          <p:nvPr/>
        </p:nvSpPr>
        <p:spPr>
          <a:xfrm>
            <a:off x="4779169" y="2457869"/>
            <a:ext cx="182742"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10</a:t>
            </a:r>
            <a:endParaRPr lang="en-US" sz="1400" dirty="0">
              <a:latin typeface="Times New Roman" panose="02020603050405020304" pitchFamily="18" charset="0"/>
            </a:endParaRPr>
          </a:p>
        </p:txBody>
      </p:sp>
      <p:sp>
        <p:nvSpPr>
          <p:cNvPr id="19" name="Text 16"/>
          <p:cNvSpPr/>
          <p:nvPr/>
        </p:nvSpPr>
        <p:spPr>
          <a:xfrm>
            <a:off x="5115176" y="2490015"/>
            <a:ext cx="1550104" cy="205184"/>
          </a:xfrm>
          <a:prstGeom prst="rect">
            <a:avLst/>
          </a:prstGeom>
          <a:noFill/>
          <a:ln/>
        </p:spPr>
        <p:txBody>
          <a:bodyPr wrap="none" lIns="0" tIns="0" rIns="0" bIns="0" rtlCol="0" anchor="t">
            <a:spAutoFit/>
          </a:bodyPr>
          <a:lstStyle/>
          <a:p>
            <a:pPr marL="0" indent="0" algn="l">
              <a:lnSpc>
                <a:spcPts val="1600"/>
              </a:lnSpc>
              <a:buNone/>
            </a:pPr>
            <a:r>
              <a:rPr lang="en-US" sz="1400" dirty="0">
                <a:solidFill>
                  <a:srgbClr val="333333"/>
                </a:solidFill>
                <a:latin typeface="Times New Roman" panose="02020603050405020304" pitchFamily="18" charset="0"/>
                <a:cs typeface="Times New Roman" panose="02020603050405020304" pitchFamily="18" charset="0"/>
              </a:rPr>
              <a:t>Results &amp; Discussion</a:t>
            </a:r>
          </a:p>
        </p:txBody>
      </p:sp>
      <p:sp>
        <p:nvSpPr>
          <p:cNvPr id="20" name="Text 17"/>
          <p:cNvSpPr/>
          <p:nvPr/>
        </p:nvSpPr>
        <p:spPr>
          <a:xfrm>
            <a:off x="564356" y="2859705"/>
            <a:ext cx="182742"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05</a:t>
            </a:r>
            <a:endParaRPr lang="en-US" sz="1400" dirty="0">
              <a:latin typeface="Times New Roman" panose="02020603050405020304" pitchFamily="18" charset="0"/>
            </a:endParaRPr>
          </a:p>
        </p:txBody>
      </p:sp>
      <p:sp>
        <p:nvSpPr>
          <p:cNvPr id="21" name="Text 18"/>
          <p:cNvSpPr/>
          <p:nvPr/>
        </p:nvSpPr>
        <p:spPr>
          <a:xfrm>
            <a:off x="900364" y="2891851"/>
            <a:ext cx="2720950" cy="205184"/>
          </a:xfrm>
          <a:prstGeom prst="rect">
            <a:avLst/>
          </a:prstGeom>
          <a:noFill/>
          <a:ln/>
        </p:spPr>
        <p:txBody>
          <a:bodyPr wrap="square" lIns="0" tIns="0" rIns="0" bIns="0" rtlCol="0" anchor="t">
            <a:spAutoFit/>
          </a:bodyPr>
          <a:lstStyle/>
          <a:p>
            <a:pPr marL="0" indent="0" algn="l">
              <a:lnSpc>
                <a:spcPts val="1600"/>
              </a:lnSpc>
              <a:buNone/>
            </a:pPr>
            <a:r>
              <a:rPr lang="en-US" sz="1400" dirty="0">
                <a:solidFill>
                  <a:srgbClr val="333333"/>
                </a:solidFill>
                <a:latin typeface="Times New Roman" panose="02020603050405020304" pitchFamily="18" charset="0"/>
                <a:cs typeface="Times New Roman" panose="02020603050405020304" pitchFamily="18" charset="0"/>
              </a:rPr>
              <a:t>Existing System &amp; Proposed System</a:t>
            </a:r>
            <a:endParaRPr lang="en-US" sz="1400" dirty="0">
              <a:latin typeface="Times New Roman" panose="02020603050405020304" pitchFamily="18" charset="0"/>
              <a:cs typeface="Times New Roman" panose="02020603050405020304" pitchFamily="18" charset="0"/>
            </a:endParaRPr>
          </a:p>
        </p:txBody>
      </p:sp>
      <p:sp>
        <p:nvSpPr>
          <p:cNvPr id="22" name="Text 19"/>
          <p:cNvSpPr/>
          <p:nvPr/>
        </p:nvSpPr>
        <p:spPr>
          <a:xfrm>
            <a:off x="4779169" y="2859705"/>
            <a:ext cx="169662" cy="228973"/>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11</a:t>
            </a:r>
            <a:endParaRPr lang="en-US" sz="1400" dirty="0">
              <a:latin typeface="Times New Roman" panose="02020603050405020304" pitchFamily="18" charset="0"/>
            </a:endParaRPr>
          </a:p>
        </p:txBody>
      </p:sp>
      <p:sp>
        <p:nvSpPr>
          <p:cNvPr id="23" name="Text 20"/>
          <p:cNvSpPr/>
          <p:nvPr/>
        </p:nvSpPr>
        <p:spPr>
          <a:xfrm>
            <a:off x="5115176" y="2891851"/>
            <a:ext cx="2000548" cy="205184"/>
          </a:xfrm>
          <a:prstGeom prst="rect">
            <a:avLst/>
          </a:prstGeom>
          <a:noFill/>
          <a:ln/>
        </p:spPr>
        <p:txBody>
          <a:bodyPr wrap="none" lIns="0" tIns="0" rIns="0" bIns="0" rtlCol="0" anchor="t">
            <a:spAutoFit/>
          </a:bodyPr>
          <a:lstStyle/>
          <a:p>
            <a:pPr marL="0" indent="0" algn="l">
              <a:lnSpc>
                <a:spcPts val="1600"/>
              </a:lnSpc>
              <a:buNone/>
            </a:pPr>
            <a:r>
              <a:rPr lang="en-US" sz="1400" dirty="0">
                <a:solidFill>
                  <a:srgbClr val="333333"/>
                </a:solidFill>
                <a:latin typeface="Times New Roman" panose="02020603050405020304" pitchFamily="18" charset="0"/>
                <a:cs typeface="Times New Roman" panose="02020603050405020304" pitchFamily="18" charset="0"/>
              </a:rPr>
              <a:t>Conclusion &amp; Future Scope</a:t>
            </a:r>
            <a:endParaRPr lang="en-US" sz="1400" dirty="0">
              <a:latin typeface="Times New Roman" panose="02020603050405020304" pitchFamily="18" charset="0"/>
              <a:cs typeface="Times New Roman" panose="02020603050405020304" pitchFamily="18" charset="0"/>
            </a:endParaRPr>
          </a:p>
        </p:txBody>
      </p:sp>
      <p:sp>
        <p:nvSpPr>
          <p:cNvPr id="24" name="Text 21"/>
          <p:cNvSpPr/>
          <p:nvPr/>
        </p:nvSpPr>
        <p:spPr>
          <a:xfrm>
            <a:off x="564356" y="3261540"/>
            <a:ext cx="182742"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06</a:t>
            </a:r>
            <a:endParaRPr lang="en-US" sz="1400" dirty="0">
              <a:latin typeface="Times New Roman" panose="02020603050405020304" pitchFamily="18" charset="0"/>
            </a:endParaRPr>
          </a:p>
        </p:txBody>
      </p:sp>
      <p:sp>
        <p:nvSpPr>
          <p:cNvPr id="25" name="Text 22"/>
          <p:cNvSpPr/>
          <p:nvPr/>
        </p:nvSpPr>
        <p:spPr>
          <a:xfrm>
            <a:off x="900364" y="3293687"/>
            <a:ext cx="3017173" cy="205184"/>
          </a:xfrm>
          <a:prstGeom prst="rect">
            <a:avLst/>
          </a:prstGeom>
          <a:noFill/>
          <a:ln/>
        </p:spPr>
        <p:txBody>
          <a:bodyPr wrap="none" lIns="0" tIns="0" rIns="0" bIns="0" rtlCol="0" anchor="t">
            <a:spAutoFit/>
          </a:bodyPr>
          <a:lstStyle/>
          <a:p>
            <a:pPr marL="0" indent="0" algn="l">
              <a:lnSpc>
                <a:spcPts val="1600"/>
              </a:lnSpc>
              <a:buNone/>
            </a:pPr>
            <a:r>
              <a:rPr lang="en-US" sz="1400" dirty="0">
                <a:solidFill>
                  <a:srgbClr val="333333"/>
                </a:solidFill>
                <a:latin typeface="Times New Roman" panose="02020603050405020304" pitchFamily="18" charset="0"/>
                <a:cs typeface="Times New Roman" panose="02020603050405020304" pitchFamily="18" charset="0"/>
              </a:rPr>
              <a:t>Methodology: Data &amp; Anomaly Detection</a:t>
            </a:r>
          </a:p>
        </p:txBody>
      </p:sp>
      <p:sp>
        <p:nvSpPr>
          <p:cNvPr id="26" name="Text 23"/>
          <p:cNvSpPr/>
          <p:nvPr/>
        </p:nvSpPr>
        <p:spPr>
          <a:xfrm>
            <a:off x="4779169" y="3261540"/>
            <a:ext cx="182742" cy="230128"/>
          </a:xfrm>
          <a:prstGeom prst="rect">
            <a:avLst/>
          </a:prstGeom>
          <a:noFill/>
          <a:ln/>
        </p:spPr>
        <p:txBody>
          <a:bodyPr wrap="none" lIns="0" tIns="0" rIns="0" bIns="0" rtlCol="0" anchor="t">
            <a:spAutoFit/>
          </a:bodyPr>
          <a:lstStyle/>
          <a:p>
            <a:pPr marL="0" indent="0" algn="l">
              <a:lnSpc>
                <a:spcPts val="1900"/>
              </a:lnSpc>
              <a:buNone/>
            </a:pPr>
            <a:r>
              <a:rPr lang="en-US" sz="1400" b="1" dirty="0">
                <a:solidFill>
                  <a:srgbClr val="FF4500"/>
                </a:solidFill>
                <a:latin typeface="Times New Roman" panose="02020603050405020304" pitchFamily="18" charset="0"/>
              </a:rPr>
              <a:t>12</a:t>
            </a:r>
            <a:endParaRPr lang="en-US" sz="1400" dirty="0">
              <a:latin typeface="Times New Roman" panose="02020603050405020304" pitchFamily="18" charset="0"/>
            </a:endParaRPr>
          </a:p>
        </p:txBody>
      </p:sp>
      <p:sp>
        <p:nvSpPr>
          <p:cNvPr id="27" name="Text 24"/>
          <p:cNvSpPr/>
          <p:nvPr/>
        </p:nvSpPr>
        <p:spPr>
          <a:xfrm>
            <a:off x="5115176" y="3293687"/>
            <a:ext cx="802720" cy="205184"/>
          </a:xfrm>
          <a:prstGeom prst="rect">
            <a:avLst/>
          </a:prstGeom>
          <a:noFill/>
          <a:ln/>
        </p:spPr>
        <p:txBody>
          <a:bodyPr wrap="none" lIns="0" tIns="0" rIns="0" bIns="0" rtlCol="0" anchor="t">
            <a:spAutoFit/>
          </a:bodyPr>
          <a:lstStyle/>
          <a:p>
            <a:pPr marL="0" indent="0" algn="l">
              <a:lnSpc>
                <a:spcPts val="1600"/>
              </a:lnSpc>
              <a:buNone/>
            </a:pPr>
            <a:r>
              <a:rPr lang="en-US" sz="1400" dirty="0">
                <a:solidFill>
                  <a:srgbClr val="333333"/>
                </a:solidFill>
                <a:latin typeface="Times New Roman" panose="02020603050405020304" pitchFamily="18" charset="0"/>
                <a:cs typeface="Times New Roman" panose="02020603050405020304" pitchFamily="18" charset="0"/>
              </a:rPr>
              <a:t>References</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5FCE5F-1DAB-4005-49C8-93664CD95E76}"/>
              </a:ext>
            </a:extLst>
          </p:cNvPr>
          <p:cNvSpPr txBox="1"/>
          <p:nvPr/>
        </p:nvSpPr>
        <p:spPr>
          <a:xfrm>
            <a:off x="327102" y="408878"/>
            <a:ext cx="2981093" cy="646331"/>
          </a:xfrm>
          <a:prstGeom prst="rect">
            <a:avLst/>
          </a:prstGeom>
          <a:noFill/>
        </p:spPr>
        <p:txBody>
          <a:bodyPr wrap="square" rtlCol="0">
            <a:spAutoFit/>
          </a:bodyPr>
          <a:lstStyle/>
          <a:p>
            <a:r>
              <a:rPr lang="en-US" dirty="0">
                <a:solidFill>
                  <a:srgbClr val="C00000"/>
                </a:solidFill>
                <a:latin typeface="Times New Roman" panose="02020603050405020304" pitchFamily="18" charset="0"/>
              </a:rPr>
              <a:t>ABSTRACT</a:t>
            </a:r>
          </a:p>
          <a:p>
            <a:endParaRPr lang="en-IN" dirty="0">
              <a:solidFill>
                <a:srgbClr val="C00000"/>
              </a:solidFill>
              <a:latin typeface="Times New Roman" panose="02020603050405020304" pitchFamily="18" charset="0"/>
            </a:endParaRPr>
          </a:p>
        </p:txBody>
      </p:sp>
      <p:cxnSp>
        <p:nvCxnSpPr>
          <p:cNvPr id="5" name="Straight Connector 4">
            <a:extLst>
              <a:ext uri="{FF2B5EF4-FFF2-40B4-BE49-F238E27FC236}">
                <a16:creationId xmlns:a16="http://schemas.microsoft.com/office/drawing/2014/main" id="{DF6450E2-354B-1792-3B53-DFD3AC4CCCF7}"/>
              </a:ext>
            </a:extLst>
          </p:cNvPr>
          <p:cNvCxnSpPr>
            <a:stCxn id="2" idx="1"/>
          </p:cNvCxnSpPr>
          <p:nvPr/>
        </p:nvCxnSpPr>
        <p:spPr>
          <a:xfrm flipV="1">
            <a:off x="327102" y="728546"/>
            <a:ext cx="1152293" cy="3498"/>
          </a:xfrm>
          <a:prstGeom prst="line">
            <a:avLst/>
          </a:prstGeom>
        </p:spPr>
        <p:style>
          <a:lnRef idx="3">
            <a:schemeClr val="accent1"/>
          </a:lnRef>
          <a:fillRef idx="0">
            <a:schemeClr val="accent1"/>
          </a:fillRef>
          <a:effectRef idx="2">
            <a:schemeClr val="accent1"/>
          </a:effectRef>
          <a:fontRef idx="minor">
            <a:schemeClr val="tx1"/>
          </a:fontRef>
        </p:style>
      </p:cxnSp>
      <p:sp>
        <p:nvSpPr>
          <p:cNvPr id="9" name="TextBox 8">
            <a:extLst>
              <a:ext uri="{FF2B5EF4-FFF2-40B4-BE49-F238E27FC236}">
                <a16:creationId xmlns:a16="http://schemas.microsoft.com/office/drawing/2014/main" id="{BA3CA150-EDA6-ADD9-B9AF-DD4C07F7052E}"/>
              </a:ext>
            </a:extLst>
          </p:cNvPr>
          <p:cNvSpPr txBox="1"/>
          <p:nvPr/>
        </p:nvSpPr>
        <p:spPr>
          <a:xfrm>
            <a:off x="267630" y="847492"/>
            <a:ext cx="8712820" cy="3608488"/>
          </a:xfrm>
          <a:prstGeom prst="rect">
            <a:avLst/>
          </a:prstGeom>
          <a:noFill/>
        </p:spPr>
        <p:txBody>
          <a:bodyPr wrap="square">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Modern complex distributed systems generate massive volumes of log data and telemetry metrics, making manual </a:t>
            </a:r>
            <a:r>
              <a:rPr lang="en-IN" sz="1400" dirty="0" err="1">
                <a:latin typeface="Times New Roman" panose="02020603050405020304" pitchFamily="18" charset="0"/>
                <a:cs typeface="Times New Roman" panose="02020603050405020304" pitchFamily="18" charset="0"/>
              </a:rPr>
              <a:t>RootCause</a:t>
            </a:r>
            <a:r>
              <a:rPr lang="en-IN" sz="1400" dirty="0">
                <a:latin typeface="Times New Roman" panose="02020603050405020304" pitchFamily="18" charset="0"/>
                <a:cs typeface="Times New Roman" panose="02020603050405020304" pitchFamily="18" charset="0"/>
              </a:rPr>
              <a:t> Analysis (RCA) nearly impossible for operations teams. Traditional rule-based methods fail to capture the dynamic and temporal dependencies inherent in microservices architectures, leading to prolonged downtime and high Mean Time To Repair (MTTR). This project proposes an Intelligent Root Cause Analysis System that leverages a hybrid Artificial Intelligence pipeline to automate the diagnostics lifecycle. The system integrates Unsupervised Machine Learning (Isolation Forest) for anomaly detection, Deep Learning (Long Short-Term Memory networks) for proactive failure prediction, and Graph Neural Networks (Graph Convolutional Networks) to model system topology and identify the root cause. Furthermore, the system addresses the critical 'black-box' limitation of AI by incorporating SHAP (</a:t>
            </a:r>
            <a:r>
              <a:rPr lang="en-IN" sz="1400" dirty="0" err="1">
                <a:latin typeface="Times New Roman" panose="02020603050405020304" pitchFamily="18" charset="0"/>
                <a:cs typeface="Times New Roman" panose="02020603050405020304" pitchFamily="18" charset="0"/>
              </a:rPr>
              <a:t>SHapley</a:t>
            </a:r>
            <a:r>
              <a:rPr lang="en-IN" sz="1400" dirty="0">
                <a:latin typeface="Times New Roman" panose="02020603050405020304" pitchFamily="18" charset="0"/>
                <a:cs typeface="Times New Roman" panose="02020603050405020304" pitchFamily="18" charset="0"/>
              </a:rPr>
              <a:t> Additive </a:t>
            </a:r>
            <a:r>
              <a:rPr lang="en-IN" sz="1400" dirty="0" err="1">
                <a:latin typeface="Times New Roman" panose="02020603050405020304" pitchFamily="18" charset="0"/>
                <a:cs typeface="Times New Roman" panose="02020603050405020304" pitchFamily="18" charset="0"/>
              </a:rPr>
              <a:t>exPlanations</a:t>
            </a:r>
            <a:r>
              <a:rPr lang="en-IN" sz="1400" dirty="0">
                <a:latin typeface="Times New Roman" panose="02020603050405020304" pitchFamily="18" charset="0"/>
                <a:cs typeface="Times New Roman" panose="02020603050405020304" pitchFamily="18" charset="0"/>
              </a:rPr>
              <a:t>) to provide human-readable, explainable evidence for every diagnosis. </a:t>
            </a:r>
            <a:r>
              <a:rPr lang="en-IN" sz="1400" dirty="0" err="1">
                <a:latin typeface="Times New Roman" panose="02020603050405020304" pitchFamily="18" charset="0"/>
                <a:cs typeface="Times New Roman" panose="02020603050405020304" pitchFamily="18" charset="0"/>
              </a:rPr>
              <a:t>Theproposed</a:t>
            </a:r>
            <a:r>
              <a:rPr lang="en-IN" sz="1400" dirty="0">
                <a:latin typeface="Times New Roman" panose="02020603050405020304" pitchFamily="18" charset="0"/>
                <a:cs typeface="Times New Roman" panose="02020603050405020304" pitchFamily="18" charset="0"/>
              </a:rPr>
              <a:t> solution achieves 94% accuracy in anomaly detection and significantly reduces MTTR, </a:t>
            </a:r>
            <a:r>
              <a:rPr lang="en-IN" sz="1400" dirty="0" err="1">
                <a:latin typeface="Times New Roman" panose="02020603050405020304" pitchFamily="18" charset="0"/>
                <a:cs typeface="Times New Roman" panose="02020603050405020304" pitchFamily="18" charset="0"/>
              </a:rPr>
              <a:t>transitioningsystem</a:t>
            </a:r>
            <a:r>
              <a:rPr lang="en-IN" sz="1400" dirty="0">
                <a:latin typeface="Times New Roman" panose="02020603050405020304" pitchFamily="18" charset="0"/>
                <a:cs typeface="Times New Roman" panose="02020603050405020304" pitchFamily="18" charset="0"/>
              </a:rPr>
              <a:t> maintenance from reactive fixes to predictive reliability.</a:t>
            </a:r>
          </a:p>
        </p:txBody>
      </p:sp>
    </p:spTree>
    <p:extLst>
      <p:ext uri="{BB962C8B-B14F-4D97-AF65-F5344CB8AC3E}">
        <p14:creationId xmlns:p14="http://schemas.microsoft.com/office/powerpoint/2010/main" val="2413984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46C53B-1A1D-715D-A28F-E34ECBE8659C}"/>
              </a:ext>
            </a:extLst>
          </p:cNvPr>
          <p:cNvSpPr txBox="1"/>
          <p:nvPr/>
        </p:nvSpPr>
        <p:spPr>
          <a:xfrm>
            <a:off x="349405" y="401444"/>
            <a:ext cx="2743200" cy="369332"/>
          </a:xfrm>
          <a:prstGeom prst="rect">
            <a:avLst/>
          </a:prstGeom>
          <a:noFill/>
        </p:spPr>
        <p:txBody>
          <a:bodyPr wrap="square" rtlCol="0">
            <a:spAutoFit/>
          </a:bodyPr>
          <a:lstStyle/>
          <a:p>
            <a:r>
              <a:rPr lang="en-US" dirty="0">
                <a:solidFill>
                  <a:srgbClr val="C00000"/>
                </a:solidFill>
                <a:latin typeface="Times New Roman" panose="02020603050405020304" pitchFamily="18" charset="0"/>
              </a:rPr>
              <a:t>INTRODUCTION</a:t>
            </a:r>
            <a:endParaRPr lang="en-IN" dirty="0">
              <a:solidFill>
                <a:srgbClr val="C00000"/>
              </a:solidFill>
              <a:latin typeface="Times New Roman" panose="02020603050405020304" pitchFamily="18" charset="0"/>
            </a:endParaRPr>
          </a:p>
        </p:txBody>
      </p:sp>
      <p:sp>
        <p:nvSpPr>
          <p:cNvPr id="3" name="TextBox 2">
            <a:extLst>
              <a:ext uri="{FF2B5EF4-FFF2-40B4-BE49-F238E27FC236}">
                <a16:creationId xmlns:a16="http://schemas.microsoft.com/office/drawing/2014/main" id="{2F066FCB-FDE0-0D4D-0542-A87E8BEF9AE3}"/>
              </a:ext>
            </a:extLst>
          </p:cNvPr>
          <p:cNvSpPr txBox="1"/>
          <p:nvPr/>
        </p:nvSpPr>
        <p:spPr>
          <a:xfrm>
            <a:off x="349405" y="825191"/>
            <a:ext cx="8348547" cy="2829108"/>
          </a:xfrm>
          <a:prstGeom prst="rect">
            <a:avLst/>
          </a:prstGeom>
          <a:noFill/>
        </p:spPr>
        <p:txBody>
          <a:bodyPr wrap="square" rtlCol="0">
            <a:spAutoFit/>
          </a:bodyPr>
          <a:lstStyle/>
          <a:p>
            <a:pPr marL="228600" indent="-228600">
              <a:lnSpc>
                <a:spcPct val="150000"/>
              </a:lnSpc>
              <a:buAutoNum type="arabicPeriod"/>
            </a:pPr>
            <a:r>
              <a:rPr lang="en-US" sz="1200" dirty="0">
                <a:latin typeface="Times New Roman" panose="02020603050405020304" pitchFamily="18" charset="0"/>
                <a:cs typeface="Times New Roman" panose="02020603050405020304" pitchFamily="18" charset="0"/>
              </a:rPr>
              <a:t>Growing Complexity of Distributed Systems:* Modern IT infrastructures generate massive volumes of logs and telemetry data, making manual fault diagnosis increasingly impractical and time-consuming.</a:t>
            </a:r>
          </a:p>
          <a:p>
            <a:pPr marL="228600" indent="-228600">
              <a:lnSpc>
                <a:spcPct val="150000"/>
              </a:lnSpc>
              <a:buAutoNum type="arabicPeriod"/>
            </a:pPr>
            <a:r>
              <a:rPr lang="en-US" sz="1200" dirty="0">
                <a:latin typeface="Times New Roman" panose="02020603050405020304" pitchFamily="18" charset="0"/>
                <a:cs typeface="Times New Roman" panose="02020603050405020304" pitchFamily="18" charset="0"/>
              </a:rPr>
              <a:t>Need for Intelligent Automation:* Traditional rule-based methods are no longer sufficient there is a critical demand for AI-driven systems that can automatically detect, predict, and explain system failures.</a:t>
            </a:r>
          </a:p>
          <a:p>
            <a:pPr marL="228600" indent="-228600">
              <a:lnSpc>
                <a:spcPct val="150000"/>
              </a:lnSpc>
              <a:buAutoNum type="arabicPeriod"/>
            </a:pPr>
            <a:r>
              <a:rPr lang="en-US" sz="1200" dirty="0">
                <a:latin typeface="Times New Roman" panose="02020603050405020304" pitchFamily="18" charset="0"/>
                <a:cs typeface="Times New Roman" panose="02020603050405020304" pitchFamily="18" charset="0"/>
              </a:rPr>
              <a:t>Project Overview: This project presents an Intelligent RCA System that integrates Isolation Forest, LSTM, and Graph Convolutional Networks (GCN) into a unified hybrid AI pipeline for automated fault diagnosis.</a:t>
            </a:r>
          </a:p>
          <a:p>
            <a:pPr marL="228600" indent="-228600">
              <a:lnSpc>
                <a:spcPct val="150000"/>
              </a:lnSpc>
              <a:buAutoNum type="arabicPeriod"/>
            </a:pPr>
            <a:r>
              <a:rPr lang="en-US" sz="1200" dirty="0">
                <a:latin typeface="Times New Roman" panose="02020603050405020304" pitchFamily="18" charset="0"/>
                <a:cs typeface="Times New Roman" panose="02020603050405020304" pitchFamily="18" charset="0"/>
              </a:rPr>
              <a:t>Explainability at the Core: Unlike conventional black-box AI models, this system incorporates SHAP (</a:t>
            </a:r>
            <a:r>
              <a:rPr lang="en-US" sz="1200" dirty="0" err="1">
                <a:latin typeface="Times New Roman" panose="02020603050405020304" pitchFamily="18" charset="0"/>
                <a:cs typeface="Times New Roman" panose="02020603050405020304" pitchFamily="18" charset="0"/>
              </a:rPr>
              <a:t>SHapley</a:t>
            </a:r>
            <a:r>
              <a:rPr lang="en-US" sz="1200" dirty="0">
                <a:latin typeface="Times New Roman" panose="02020603050405020304" pitchFamily="18" charset="0"/>
                <a:cs typeface="Times New Roman" panose="02020603050405020304" pitchFamily="18" charset="0"/>
              </a:rPr>
              <a:t> Additive </a:t>
            </a:r>
            <a:r>
              <a:rPr lang="en-US" sz="1200" dirty="0" err="1">
                <a:latin typeface="Times New Roman" panose="02020603050405020304" pitchFamily="18" charset="0"/>
                <a:cs typeface="Times New Roman" panose="02020603050405020304" pitchFamily="18" charset="0"/>
              </a:rPr>
              <a:t>exPlanations</a:t>
            </a:r>
            <a:r>
              <a:rPr lang="en-US" sz="1200" dirty="0">
                <a:latin typeface="Times New Roman" panose="02020603050405020304" pitchFamily="18" charset="0"/>
                <a:cs typeface="Times New Roman" panose="02020603050405020304" pitchFamily="18" charset="0"/>
              </a:rPr>
              <a:t>) to provide human-readable reasoning behind every diagnosis, building trust in AI-driven decisions.</a:t>
            </a:r>
          </a:p>
          <a:p>
            <a:pPr marL="228600" indent="-228600">
              <a:lnSpc>
                <a:spcPct val="150000"/>
              </a:lnSpc>
              <a:buAutoNum type="arabicPeriod"/>
            </a:pPr>
            <a:r>
              <a:rPr lang="en-US" sz="1200" dirty="0">
                <a:latin typeface="Times New Roman" panose="02020603050405020304" pitchFamily="18" charset="0"/>
                <a:cs typeface="Times New Roman" panose="02020603050405020304" pitchFamily="18" charset="0"/>
              </a:rPr>
              <a:t>Impact and Outcome: The proposed system significantly reduces Mean Time To Repair (MTTR), achieves 94% anomaly detection accuracy, and shifts system maintenance from reactive fixing to proactive, predictive management.</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2621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7434"/>
            <a:ext cx="9144000" cy="5143500"/>
          </a:xfrm>
          <a:prstGeom prst="rect">
            <a:avLst/>
          </a:prstGeom>
        </p:spPr>
      </p:pic>
      <p:sp>
        <p:nvSpPr>
          <p:cNvPr id="3" name="Text 0"/>
          <p:cNvSpPr/>
          <p:nvPr/>
        </p:nvSpPr>
        <p:spPr>
          <a:xfrm>
            <a:off x="571500" y="618353"/>
            <a:ext cx="3283719" cy="259751"/>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1A1A1A"/>
                </a:solidFill>
                <a:latin typeface="Times New Roman" panose="02020603050405020304" pitchFamily="18" charset="0"/>
                <a:cs typeface="Times New Roman" panose="02020603050405020304" pitchFamily="18" charset="0"/>
              </a:rPr>
              <a:t>Literature Review &amp; Research Gap</a:t>
            </a:r>
            <a:endParaRPr lang="en-US" sz="1602" dirty="0">
              <a:latin typeface="Times New Roman" panose="02020603050405020304" pitchFamily="18" charset="0"/>
              <a:cs typeface="Times New Roman" panose="02020603050405020304" pitchFamily="18" charset="0"/>
            </a:endParaRPr>
          </a:p>
        </p:txBody>
      </p:sp>
      <p:sp>
        <p:nvSpPr>
          <p:cNvPr id="4" name="Text 1"/>
          <p:cNvSpPr/>
          <p:nvPr/>
        </p:nvSpPr>
        <p:spPr>
          <a:xfrm>
            <a:off x="714375" y="1120620"/>
            <a:ext cx="1576842"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FF4500"/>
                </a:solidFill>
                <a:latin typeface="Times New Roman" panose="02020603050405020304" pitchFamily="18" charset="0"/>
                <a:cs typeface="Times New Roman" panose="02020603050405020304" pitchFamily="18" charset="0"/>
              </a:rPr>
              <a:t>Traditional Methods</a:t>
            </a:r>
            <a:endParaRPr lang="en-US" sz="1400" dirty="0">
              <a:latin typeface="Times New Roman" panose="02020603050405020304" pitchFamily="18" charset="0"/>
              <a:cs typeface="Times New Roman" panose="02020603050405020304" pitchFamily="18" charset="0"/>
            </a:endParaRPr>
          </a:p>
        </p:txBody>
      </p:sp>
      <p:sp>
        <p:nvSpPr>
          <p:cNvPr id="5" name="Text 2"/>
          <p:cNvSpPr/>
          <p:nvPr/>
        </p:nvSpPr>
        <p:spPr>
          <a:xfrm>
            <a:off x="714375" y="1426015"/>
            <a:ext cx="3261662"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latin typeface="Times New Roman" panose="02020603050405020304" pitchFamily="18" charset="0"/>
                <a:cs typeface="Times New Roman" panose="02020603050405020304" pitchFamily="18" charset="0"/>
              </a:rPr>
              <a:t>Rule-based engines and manual expert intervention.</a:t>
            </a:r>
            <a:endParaRPr lang="en-US" sz="1200" dirty="0">
              <a:latin typeface="Times New Roman" panose="02020603050405020304" pitchFamily="18" charset="0"/>
              <a:cs typeface="Times New Roman" panose="02020603050405020304" pitchFamily="18" charset="0"/>
            </a:endParaRPr>
          </a:p>
        </p:txBody>
      </p:sp>
      <p:sp>
        <p:nvSpPr>
          <p:cNvPr id="6" name="Text 3"/>
          <p:cNvSpPr/>
          <p:nvPr/>
        </p:nvSpPr>
        <p:spPr>
          <a:xfrm>
            <a:off x="714375" y="1677470"/>
            <a:ext cx="3579313"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latin typeface="Times New Roman" panose="02020603050405020304" pitchFamily="18" charset="0"/>
                <a:cs typeface="Times New Roman" panose="02020603050405020304" pitchFamily="18" charset="0"/>
              </a:rPr>
              <a:t>Static thresholds that fail in dynamic cloud environments.</a:t>
            </a:r>
            <a:endParaRPr lang="en-US" sz="1200" dirty="0">
              <a:latin typeface="Times New Roman" panose="02020603050405020304" pitchFamily="18" charset="0"/>
              <a:cs typeface="Times New Roman" panose="02020603050405020304" pitchFamily="18" charset="0"/>
            </a:endParaRPr>
          </a:p>
        </p:txBody>
      </p:sp>
      <p:sp>
        <p:nvSpPr>
          <p:cNvPr id="7" name="Text 4"/>
          <p:cNvSpPr/>
          <p:nvPr/>
        </p:nvSpPr>
        <p:spPr>
          <a:xfrm>
            <a:off x="714375" y="1928924"/>
            <a:ext cx="2616101"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latin typeface="Times New Roman" panose="02020603050405020304" pitchFamily="18" charset="0"/>
                <a:cs typeface="Times New Roman" panose="02020603050405020304" pitchFamily="18" charset="0"/>
              </a:rPr>
              <a:t>Poor scalability for high-velocity log data.</a:t>
            </a:r>
            <a:endParaRPr lang="en-US" sz="1200" dirty="0">
              <a:latin typeface="Times New Roman" panose="02020603050405020304" pitchFamily="18" charset="0"/>
              <a:cs typeface="Times New Roman" panose="02020603050405020304" pitchFamily="18" charset="0"/>
            </a:endParaRPr>
          </a:p>
        </p:txBody>
      </p:sp>
      <p:sp>
        <p:nvSpPr>
          <p:cNvPr id="8" name="Text 5"/>
          <p:cNvSpPr/>
          <p:nvPr/>
        </p:nvSpPr>
        <p:spPr>
          <a:xfrm>
            <a:off x="4679156" y="1120620"/>
            <a:ext cx="1856277"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FF4500"/>
                </a:solidFill>
                <a:latin typeface="Times New Roman" panose="02020603050405020304" pitchFamily="18" charset="0"/>
                <a:cs typeface="Times New Roman" panose="02020603050405020304" pitchFamily="18" charset="0"/>
              </a:rPr>
              <a:t>Machine Learning RCA</a:t>
            </a:r>
            <a:endParaRPr lang="en-US" sz="1400" dirty="0">
              <a:latin typeface="Times New Roman" panose="02020603050405020304" pitchFamily="18" charset="0"/>
              <a:cs typeface="Times New Roman" panose="02020603050405020304" pitchFamily="18" charset="0"/>
            </a:endParaRPr>
          </a:p>
        </p:txBody>
      </p:sp>
      <p:sp>
        <p:nvSpPr>
          <p:cNvPr id="9" name="Text 6"/>
          <p:cNvSpPr/>
          <p:nvPr/>
        </p:nvSpPr>
        <p:spPr>
          <a:xfrm>
            <a:off x="4679156" y="1426015"/>
            <a:ext cx="3678892"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latin typeface="Times New Roman" panose="02020603050405020304" pitchFamily="18" charset="0"/>
                <a:cs typeface="Times New Roman" panose="02020603050405020304" pitchFamily="18" charset="0"/>
              </a:rPr>
              <a:t>Basic classifiers (SVM, Random Forest) for fault detection.</a:t>
            </a:r>
            <a:endParaRPr lang="en-US" sz="1200" dirty="0">
              <a:latin typeface="Times New Roman" panose="02020603050405020304" pitchFamily="18" charset="0"/>
              <a:cs typeface="Times New Roman" panose="02020603050405020304" pitchFamily="18" charset="0"/>
            </a:endParaRPr>
          </a:p>
        </p:txBody>
      </p:sp>
      <p:sp>
        <p:nvSpPr>
          <p:cNvPr id="10" name="Text 7"/>
          <p:cNvSpPr/>
          <p:nvPr/>
        </p:nvSpPr>
        <p:spPr>
          <a:xfrm>
            <a:off x="4679156" y="1677470"/>
            <a:ext cx="3432093"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latin typeface="Times New Roman" panose="02020603050405020304" pitchFamily="18" charset="0"/>
                <a:cs typeface="Times New Roman" panose="02020603050405020304" pitchFamily="18" charset="0"/>
              </a:rPr>
              <a:t>Often ignores temporal dependencies between events.</a:t>
            </a:r>
            <a:endParaRPr lang="en-US" sz="1200" dirty="0">
              <a:latin typeface="Times New Roman" panose="02020603050405020304" pitchFamily="18" charset="0"/>
              <a:cs typeface="Times New Roman" panose="02020603050405020304" pitchFamily="18" charset="0"/>
            </a:endParaRPr>
          </a:p>
        </p:txBody>
      </p:sp>
      <p:sp>
        <p:nvSpPr>
          <p:cNvPr id="11" name="Text 8"/>
          <p:cNvSpPr/>
          <p:nvPr/>
        </p:nvSpPr>
        <p:spPr>
          <a:xfrm>
            <a:off x="4679156" y="1928924"/>
            <a:ext cx="3595664"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333333"/>
                </a:solidFill>
                <a:latin typeface="Times New Roman" panose="02020603050405020304" pitchFamily="18" charset="0"/>
                <a:cs typeface="Times New Roman" panose="02020603050405020304" pitchFamily="18" charset="0"/>
              </a:rPr>
              <a:t>Lack of relational modeling between system components.</a:t>
            </a:r>
            <a:endParaRPr lang="en-US" sz="1200" dirty="0">
              <a:latin typeface="Times New Roman" panose="02020603050405020304" pitchFamily="18" charset="0"/>
              <a:cs typeface="Times New Roman" panose="02020603050405020304" pitchFamily="18" charset="0"/>
            </a:endParaRPr>
          </a:p>
        </p:txBody>
      </p:sp>
      <p:sp>
        <p:nvSpPr>
          <p:cNvPr id="12" name="Shape 9"/>
          <p:cNvSpPr/>
          <p:nvPr/>
        </p:nvSpPr>
        <p:spPr>
          <a:xfrm>
            <a:off x="714375" y="2466129"/>
            <a:ext cx="7715250" cy="1205508"/>
          </a:xfrm>
          <a:prstGeom prst="rect">
            <a:avLst/>
          </a:prstGeom>
          <a:solidFill>
            <a:srgbClr val="1A1A1A"/>
          </a:solidFill>
          <a:ln/>
        </p:spPr>
        <p:txBody>
          <a:bodyPr/>
          <a:lstStyle/>
          <a:p>
            <a:endParaRPr lang="en-IN" dirty="0">
              <a:latin typeface="Times New Roman" panose="02020603050405020304" pitchFamily="18" charset="0"/>
            </a:endParaRPr>
          </a:p>
        </p:txBody>
      </p:sp>
      <p:sp>
        <p:nvSpPr>
          <p:cNvPr id="13" name="Shape 10"/>
          <p:cNvSpPr/>
          <p:nvPr/>
        </p:nvSpPr>
        <p:spPr>
          <a:xfrm>
            <a:off x="714375" y="2466129"/>
            <a:ext cx="7715250" cy="71438"/>
          </a:xfrm>
          <a:prstGeom prst="rect">
            <a:avLst/>
          </a:prstGeom>
          <a:solidFill>
            <a:srgbClr val="FF4500"/>
          </a:solidFill>
          <a:ln/>
        </p:spPr>
        <p:txBody>
          <a:bodyPr/>
          <a:lstStyle/>
          <a:p>
            <a:endParaRPr lang="en-IN" dirty="0">
              <a:latin typeface="Times New Roman" panose="02020603050405020304" pitchFamily="18" charset="0"/>
            </a:endParaRPr>
          </a:p>
        </p:txBody>
      </p:sp>
      <p:sp>
        <p:nvSpPr>
          <p:cNvPr id="14" name="Text 11"/>
          <p:cNvSpPr/>
          <p:nvPr/>
        </p:nvSpPr>
        <p:spPr>
          <a:xfrm>
            <a:off x="1000125" y="2609004"/>
            <a:ext cx="1425005"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FF4500"/>
                </a:solidFill>
                <a:latin typeface="Times New Roman" panose="02020603050405020304" pitchFamily="18" charset="0"/>
                <a:cs typeface="Times New Roman" panose="02020603050405020304" pitchFamily="18" charset="0"/>
              </a:rPr>
              <a:t>The Research Gap</a:t>
            </a:r>
            <a:endParaRPr lang="en-US" sz="1400" dirty="0">
              <a:latin typeface="Times New Roman" panose="02020603050405020304" pitchFamily="18" charset="0"/>
              <a:cs typeface="Times New Roman" panose="02020603050405020304" pitchFamily="18" charset="0"/>
            </a:endParaRPr>
          </a:p>
        </p:txBody>
      </p:sp>
      <p:sp>
        <p:nvSpPr>
          <p:cNvPr id="15" name="Text 12"/>
          <p:cNvSpPr/>
          <p:nvPr/>
        </p:nvSpPr>
        <p:spPr>
          <a:xfrm>
            <a:off x="1000125" y="2914399"/>
            <a:ext cx="7143750" cy="685800"/>
          </a:xfrm>
          <a:prstGeom prst="rect">
            <a:avLst/>
          </a:prstGeom>
          <a:noFill/>
          <a:ln/>
        </p:spPr>
        <p:txBody>
          <a:bodyPr wrap="square" lIns="0" tIns="0" rIns="0" bIns="0" rtlCol="0" anchor="t">
            <a:spAutoFit/>
          </a:bodyPr>
          <a:lstStyle/>
          <a:p>
            <a:pPr marL="0" indent="0" algn="l">
              <a:lnSpc>
                <a:spcPts val="1800"/>
              </a:lnSpc>
              <a:buNone/>
            </a:pPr>
            <a:r>
              <a:rPr lang="en-US" sz="1200" dirty="0">
                <a:solidFill>
                  <a:srgbClr val="F2F2F2"/>
                </a:solidFill>
                <a:latin typeface="Times New Roman" panose="02020603050405020304" pitchFamily="18" charset="0"/>
                <a:cs typeface="Times New Roman" panose="02020603050405020304" pitchFamily="18" charset="0"/>
              </a:rPr>
              <a:t>Most existing studies lack </a:t>
            </a:r>
            <a:r>
              <a:rPr lang="en-US" sz="1200" b="1" dirty="0">
                <a:solidFill>
                  <a:srgbClr val="F2F2F2"/>
                </a:solidFill>
                <a:latin typeface="Times New Roman" panose="02020603050405020304" pitchFamily="18" charset="0"/>
                <a:cs typeface="Times New Roman" panose="02020603050405020304" pitchFamily="18" charset="0"/>
              </a:rPr>
              <a:t>"Explainability,"</a:t>
            </a:r>
            <a:r>
              <a:rPr lang="en-US" sz="1200" dirty="0">
                <a:solidFill>
                  <a:srgbClr val="F2F2F2"/>
                </a:solidFill>
                <a:latin typeface="Times New Roman" panose="02020603050405020304" pitchFamily="18" charset="0"/>
                <a:cs typeface="Times New Roman" panose="02020603050405020304" pitchFamily="18" charset="0"/>
              </a:rPr>
              <a:t> leaving the "why" behind a failure unanswered. There is a critical need for a unified framework that integrates </a:t>
            </a:r>
            <a:r>
              <a:rPr lang="en-US" sz="1200" b="1" dirty="0">
                <a:solidFill>
                  <a:srgbClr val="F2F2F2"/>
                </a:solidFill>
                <a:latin typeface="Times New Roman" panose="02020603050405020304" pitchFamily="18" charset="0"/>
                <a:cs typeface="Times New Roman" panose="02020603050405020304" pitchFamily="18" charset="0"/>
              </a:rPr>
              <a:t>time-series prediction</a:t>
            </a:r>
            <a:r>
              <a:rPr lang="en-US" sz="1200" dirty="0">
                <a:solidFill>
                  <a:srgbClr val="F2F2F2"/>
                </a:solidFill>
                <a:latin typeface="Times New Roman" panose="02020603050405020304" pitchFamily="18" charset="0"/>
                <a:cs typeface="Times New Roman" panose="02020603050405020304" pitchFamily="18" charset="0"/>
              </a:rPr>
              <a:t> with </a:t>
            </a:r>
            <a:r>
              <a:rPr lang="en-US" sz="1200" b="1" dirty="0">
                <a:solidFill>
                  <a:srgbClr val="F2F2F2"/>
                </a:solidFill>
                <a:latin typeface="Times New Roman" panose="02020603050405020304" pitchFamily="18" charset="0"/>
                <a:cs typeface="Times New Roman" panose="02020603050405020304" pitchFamily="18" charset="0"/>
              </a:rPr>
              <a:t>graph-based relationship modeling</a:t>
            </a:r>
            <a:r>
              <a:rPr lang="en-US" sz="1200" dirty="0">
                <a:solidFill>
                  <a:srgbClr val="F2F2F2"/>
                </a:solidFill>
                <a:latin typeface="Times New Roman" panose="02020603050405020304" pitchFamily="18" charset="0"/>
                <a:cs typeface="Times New Roman" panose="02020603050405020304" pitchFamily="18" charset="0"/>
              </a:rPr>
              <a:t> and explainable outputs.</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434" y="-30450"/>
            <a:ext cx="9144000" cy="5143500"/>
          </a:xfrm>
          <a:prstGeom prst="rect">
            <a:avLst/>
          </a:prstGeom>
        </p:spPr>
      </p:pic>
      <p:sp>
        <p:nvSpPr>
          <p:cNvPr id="3" name="Text 0"/>
          <p:cNvSpPr/>
          <p:nvPr/>
        </p:nvSpPr>
        <p:spPr>
          <a:xfrm>
            <a:off x="222702" y="758990"/>
            <a:ext cx="4322465" cy="259751"/>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1A1A1A"/>
                </a:solidFill>
                <a:latin typeface="Times New Roman" panose="02020603050405020304" pitchFamily="18" charset="0"/>
                <a:cs typeface="Times New Roman" panose="02020603050405020304" pitchFamily="18" charset="0"/>
              </a:rPr>
              <a:t>Problem Statement: The Complexity Challenge</a:t>
            </a:r>
            <a:endParaRPr lang="en-US" sz="1602" dirty="0">
              <a:latin typeface="Times New Roman" panose="02020603050405020304" pitchFamily="18" charset="0"/>
              <a:cs typeface="Times New Roman" panose="02020603050405020304" pitchFamily="18" charset="0"/>
            </a:endParaRPr>
          </a:p>
        </p:txBody>
      </p:sp>
      <p:sp>
        <p:nvSpPr>
          <p:cNvPr id="4" name="Text 1"/>
          <p:cNvSpPr/>
          <p:nvPr/>
        </p:nvSpPr>
        <p:spPr>
          <a:xfrm>
            <a:off x="428625" y="1406370"/>
            <a:ext cx="1806585"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FF4500"/>
                </a:solidFill>
                <a:latin typeface="Times New Roman" panose="02020603050405020304" pitchFamily="18" charset="0"/>
                <a:cs typeface="Times New Roman" panose="02020603050405020304" pitchFamily="18" charset="0"/>
              </a:rPr>
              <a:t>Identification Difficulty</a:t>
            </a:r>
            <a:endParaRPr lang="en-US" sz="1400" dirty="0">
              <a:latin typeface="Times New Roman" panose="02020603050405020304" pitchFamily="18" charset="0"/>
              <a:cs typeface="Times New Roman" panose="02020603050405020304" pitchFamily="18" charset="0"/>
            </a:endParaRPr>
          </a:p>
        </p:txBody>
      </p:sp>
      <p:sp>
        <p:nvSpPr>
          <p:cNvPr id="5" name="Text 2"/>
          <p:cNvSpPr/>
          <p:nvPr/>
        </p:nvSpPr>
        <p:spPr>
          <a:xfrm>
            <a:off x="428625" y="1749270"/>
            <a:ext cx="3929063" cy="566245"/>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cs typeface="Times New Roman" panose="02020603050405020304" pitchFamily="18" charset="0"/>
              </a:rPr>
              <a:t>True root causes are often hidden behind a "storm" of secondary symptoms in distributed systems, making manual tracing error-prone.</a:t>
            </a:r>
            <a:endParaRPr lang="en-US" sz="1200" dirty="0">
              <a:latin typeface="Times New Roman" panose="02020603050405020304" pitchFamily="18" charset="0"/>
              <a:cs typeface="Times New Roman" panose="02020603050405020304" pitchFamily="18" charset="0"/>
            </a:endParaRPr>
          </a:p>
        </p:txBody>
      </p:sp>
      <p:sp>
        <p:nvSpPr>
          <p:cNvPr id="6" name="Text 3"/>
          <p:cNvSpPr/>
          <p:nvPr/>
        </p:nvSpPr>
        <p:spPr>
          <a:xfrm>
            <a:off x="428625" y="2485076"/>
            <a:ext cx="1223092"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FF4500"/>
                </a:solidFill>
                <a:latin typeface="Times New Roman" panose="02020603050405020304" pitchFamily="18" charset="0"/>
                <a:cs typeface="Times New Roman" panose="02020603050405020304" pitchFamily="18" charset="0"/>
              </a:rPr>
              <a:t>Diagnosis Delay</a:t>
            </a:r>
            <a:endParaRPr lang="en-US" sz="1400" dirty="0">
              <a:latin typeface="Times New Roman" panose="02020603050405020304" pitchFamily="18" charset="0"/>
              <a:cs typeface="Times New Roman" panose="02020603050405020304" pitchFamily="18" charset="0"/>
            </a:endParaRPr>
          </a:p>
        </p:txBody>
      </p:sp>
      <p:sp>
        <p:nvSpPr>
          <p:cNvPr id="7" name="Text 4"/>
          <p:cNvSpPr/>
          <p:nvPr/>
        </p:nvSpPr>
        <p:spPr>
          <a:xfrm>
            <a:off x="428625" y="2827976"/>
            <a:ext cx="3929063" cy="566245"/>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cs typeface="Times New Roman" panose="02020603050405020304" pitchFamily="18" charset="0"/>
              </a:rPr>
              <a:t>Manual investigation leads to prolonged system downtime and significant financial losses due to the high Mean Time To Repair (MTTR).</a:t>
            </a:r>
            <a:endParaRPr lang="en-US" sz="1200" dirty="0">
              <a:latin typeface="Times New Roman" panose="02020603050405020304" pitchFamily="18" charset="0"/>
              <a:cs typeface="Times New Roman" panose="02020603050405020304" pitchFamily="18" charset="0"/>
            </a:endParaRPr>
          </a:p>
        </p:txBody>
      </p:sp>
      <p:sp>
        <p:nvSpPr>
          <p:cNvPr id="8" name="Text 5"/>
          <p:cNvSpPr/>
          <p:nvPr/>
        </p:nvSpPr>
        <p:spPr>
          <a:xfrm>
            <a:off x="428625" y="3563782"/>
            <a:ext cx="1687321"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FF4500"/>
                </a:solidFill>
                <a:latin typeface="Times New Roman" panose="02020603050405020304" pitchFamily="18" charset="0"/>
                <a:cs typeface="Times New Roman" panose="02020603050405020304" pitchFamily="18" charset="0"/>
              </a:rPr>
              <a:t>Lack of Transparency</a:t>
            </a:r>
            <a:endParaRPr lang="en-US" sz="1400" dirty="0">
              <a:latin typeface="Times New Roman" panose="02020603050405020304" pitchFamily="18" charset="0"/>
              <a:cs typeface="Times New Roman" panose="02020603050405020304" pitchFamily="18" charset="0"/>
            </a:endParaRPr>
          </a:p>
        </p:txBody>
      </p:sp>
      <p:sp>
        <p:nvSpPr>
          <p:cNvPr id="9" name="Text 6"/>
          <p:cNvSpPr/>
          <p:nvPr/>
        </p:nvSpPr>
        <p:spPr>
          <a:xfrm>
            <a:off x="428625" y="3906682"/>
            <a:ext cx="3929063" cy="566245"/>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cs typeface="Times New Roman" panose="02020603050405020304" pitchFamily="18" charset="0"/>
              </a:rPr>
              <a:t>"Black-box" AI models may identify faults but fail to provide the reasoning required for engineering teams to trust and act on the results.</a:t>
            </a:r>
            <a:endParaRPr lang="en-US" sz="12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E24D892F-9F07-7A91-0A8C-C61A836E357C}"/>
              </a:ext>
            </a:extLst>
          </p:cNvPr>
          <p:cNvPicPr>
            <a:picLocks noChangeAspect="1"/>
          </p:cNvPicPr>
          <p:nvPr/>
        </p:nvPicPr>
        <p:blipFill>
          <a:blip r:embed="rId4"/>
          <a:stretch>
            <a:fillRect/>
          </a:stretch>
        </p:blipFill>
        <p:spPr>
          <a:xfrm>
            <a:off x="4545167" y="1565055"/>
            <a:ext cx="4411353" cy="28261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Existing System">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7434" y="0"/>
            <a:ext cx="9144000" cy="5143500"/>
          </a:xfrm>
          <a:prstGeom prst="rect">
            <a:avLst/>
          </a:prstGeom>
        </p:spPr>
      </p:pic>
      <p:sp>
        <p:nvSpPr>
          <p:cNvPr id="3" name="Title"/>
          <p:cNvSpPr/>
          <p:nvPr/>
        </p:nvSpPr>
        <p:spPr>
          <a:xfrm>
            <a:off x="390071" y="646500"/>
            <a:ext cx="1571136" cy="259751"/>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1A1A1A"/>
                </a:solidFill>
                <a:latin typeface="Times New Roman" panose="02020603050405020304" pitchFamily="18" charset="0"/>
                <a:cs typeface="Times New Roman" panose="02020603050405020304" pitchFamily="18" charset="0"/>
              </a:rPr>
              <a:t>Existing System</a:t>
            </a:r>
          </a:p>
        </p:txBody>
      </p:sp>
      <p:sp>
        <p:nvSpPr>
          <p:cNvPr id="4" name="AccentBar"/>
          <p:cNvSpPr/>
          <p:nvPr/>
        </p:nvSpPr>
        <p:spPr>
          <a:xfrm>
            <a:off x="571500" y="990000"/>
            <a:ext cx="1800000" cy="28575"/>
          </a:xfrm>
          <a:prstGeom prst="rect">
            <a:avLst/>
          </a:prstGeom>
          <a:solidFill>
            <a:srgbClr val="1A1A1A"/>
          </a:solidFill>
          <a:ln/>
        </p:spPr>
        <p:txBody>
          <a:bodyPr/>
          <a:lstStyle/>
          <a:p>
            <a:endParaRPr lang="en-IN" dirty="0">
              <a:solidFill>
                <a:srgbClr val="C00000"/>
              </a:solidFill>
              <a:latin typeface="Times New Roman" panose="02020603050405020304" pitchFamily="18" charset="0"/>
            </a:endParaRPr>
          </a:p>
        </p:txBody>
      </p:sp>
      <p:sp>
        <p:nvSpPr>
          <p:cNvPr id="5" name="Content"/>
          <p:cNvSpPr/>
          <p:nvPr/>
        </p:nvSpPr>
        <p:spPr>
          <a:xfrm>
            <a:off x="564066" y="1100000"/>
            <a:ext cx="7900000" cy="3700000"/>
          </a:xfrm>
          <a:prstGeom prst="rect">
            <a:avLst/>
          </a:prstGeom>
          <a:solidFill>
            <a:schemeClr val="bg1">
              <a:lumMod val="95000"/>
              <a:alpha val="95000"/>
            </a:schemeClr>
          </a:solidFill>
          <a:ln w="9144">
            <a:solidFill>
              <a:srgbClr val="DDDDDD"/>
            </a:solidFill>
          </a:ln>
        </p:spPr>
        <p:txBody>
          <a:bodyPr wrap="square" lIns="228600" tIns="228600" rIns="228600" bIns="228600" rtlCol="0" anchor="t">
            <a:normAutofit/>
          </a:bodyPr>
          <a:lstStyle/>
          <a:p>
            <a:pPr marL="342900" indent="-342900" algn="l">
              <a:lnSpc>
                <a:spcPts val="1600"/>
              </a:lnSpc>
              <a:spcBef>
                <a:spcPts val="400"/>
              </a:spcBef>
              <a:buChar char="●"/>
            </a:pPr>
            <a:r>
              <a:rPr lang="en-US" sz="1400" b="1" dirty="0">
                <a:solidFill>
                  <a:srgbClr val="C00000"/>
                </a:solidFill>
                <a:latin typeface="Times New Roman" panose="02020603050405020304" pitchFamily="18" charset="0"/>
                <a:cs typeface="Times New Roman" panose="02020603050405020304" pitchFamily="18" charset="0"/>
              </a:rPr>
              <a:t>Manual &amp; Rule-Based Methodology: </a:t>
            </a:r>
            <a:r>
              <a:rPr lang="en-US" sz="1400" b="0" dirty="0">
                <a:solidFill>
                  <a:srgbClr val="444444"/>
                </a:solidFill>
                <a:latin typeface="Times New Roman" panose="02020603050405020304" pitchFamily="18" charset="0"/>
                <a:cs typeface="Times New Roman" panose="02020603050405020304" pitchFamily="18" charset="0"/>
              </a:rPr>
              <a:t>Relies on static rule engines and expert intervention, making diagnosis slow and error-prone.</a:t>
            </a:r>
          </a:p>
          <a:p>
            <a:pPr marL="342900" indent="-342900" algn="l">
              <a:lnSpc>
                <a:spcPts val="1600"/>
              </a:lnSpc>
              <a:spcBef>
                <a:spcPts val="400"/>
              </a:spcBef>
              <a:buChar char="●"/>
            </a:pPr>
            <a:r>
              <a:rPr lang="en-US" sz="1400" b="1" dirty="0">
                <a:solidFill>
                  <a:srgbClr val="C00000"/>
                </a:solidFill>
                <a:latin typeface="Times New Roman" panose="02020603050405020304" pitchFamily="18" charset="0"/>
                <a:cs typeface="Times New Roman" panose="02020603050405020304" pitchFamily="18" charset="0"/>
              </a:rPr>
              <a:t>Poor Scalability: </a:t>
            </a:r>
            <a:r>
              <a:rPr lang="en-US" sz="1400" b="0" dirty="0">
                <a:solidFill>
                  <a:srgbClr val="444444"/>
                </a:solidFill>
                <a:latin typeface="Times New Roman" panose="02020603050405020304" pitchFamily="18" charset="0"/>
                <a:cs typeface="Times New Roman" panose="02020603050405020304" pitchFamily="18" charset="0"/>
              </a:rPr>
              <a:t>Static thresholds fail in dynamic cloud environments and cannot handle high-velocity log data.</a:t>
            </a:r>
          </a:p>
          <a:p>
            <a:pPr marL="342900" indent="-342900" algn="l">
              <a:lnSpc>
                <a:spcPts val="1600"/>
              </a:lnSpc>
              <a:spcBef>
                <a:spcPts val="400"/>
              </a:spcBef>
              <a:buChar char="●"/>
            </a:pPr>
            <a:r>
              <a:rPr lang="en-US" sz="1400" b="1" dirty="0">
                <a:solidFill>
                  <a:srgbClr val="C00000"/>
                </a:solidFill>
                <a:latin typeface="Times New Roman" panose="02020603050405020304" pitchFamily="18" charset="0"/>
                <a:cs typeface="Times New Roman" panose="02020603050405020304" pitchFamily="18" charset="0"/>
              </a:rPr>
              <a:t>Slow Diagnosis Speed:</a:t>
            </a:r>
            <a:r>
              <a:rPr lang="en-US" sz="1400" b="1" dirty="0">
                <a:solidFill>
                  <a:srgbClr val="1A1A1A"/>
                </a:solidFill>
                <a:latin typeface="Times New Roman" panose="02020603050405020304" pitchFamily="18" charset="0"/>
                <a:cs typeface="Times New Roman" panose="02020603050405020304" pitchFamily="18" charset="0"/>
              </a:rPr>
              <a:t> </a:t>
            </a:r>
            <a:r>
              <a:rPr lang="en-US" sz="1400" b="0" dirty="0">
                <a:solidFill>
                  <a:srgbClr val="444444"/>
                </a:solidFill>
                <a:latin typeface="Times New Roman" panose="02020603050405020304" pitchFamily="18" charset="0"/>
                <a:cs typeface="Times New Roman" panose="02020603050405020304" pitchFamily="18" charset="0"/>
              </a:rPr>
              <a:t>Expert-dependent investigation prolongs downtime and results in high Mean Time To Repair (MTTR).</a:t>
            </a:r>
          </a:p>
          <a:p>
            <a:pPr marL="342900" indent="-342900" algn="l">
              <a:lnSpc>
                <a:spcPts val="1600"/>
              </a:lnSpc>
              <a:spcBef>
                <a:spcPts val="400"/>
              </a:spcBef>
              <a:buChar char="●"/>
            </a:pPr>
            <a:r>
              <a:rPr lang="en-US" sz="1400" b="1" dirty="0">
                <a:solidFill>
                  <a:srgbClr val="C00000"/>
                </a:solidFill>
                <a:latin typeface="Times New Roman" panose="02020603050405020304" pitchFamily="18" charset="0"/>
                <a:cs typeface="Times New Roman" panose="02020603050405020304" pitchFamily="18" charset="0"/>
              </a:rPr>
              <a:t>Basic Fault Identification Only: </a:t>
            </a:r>
            <a:r>
              <a:rPr lang="en-US" sz="1400" b="0" dirty="0">
                <a:solidFill>
                  <a:srgbClr val="444444"/>
                </a:solidFill>
                <a:latin typeface="Times New Roman" panose="02020603050405020304" pitchFamily="18" charset="0"/>
                <a:cs typeface="Times New Roman" panose="02020603050405020304" pitchFamily="18" charset="0"/>
              </a:rPr>
              <a:t>Detects surface-level symptoms but cannot trace true root causes or model relational dependencies between components.</a:t>
            </a:r>
          </a:p>
          <a:p>
            <a:pPr marL="342900" indent="-342900" algn="l">
              <a:lnSpc>
                <a:spcPts val="1600"/>
              </a:lnSpc>
              <a:spcBef>
                <a:spcPts val="400"/>
              </a:spcBef>
              <a:buChar char="●"/>
            </a:pPr>
            <a:r>
              <a:rPr lang="en-US" sz="1400" b="1" dirty="0">
                <a:solidFill>
                  <a:srgbClr val="C00000"/>
                </a:solidFill>
                <a:latin typeface="Times New Roman" panose="02020603050405020304" pitchFamily="18" charset="0"/>
                <a:cs typeface="Times New Roman" panose="02020603050405020304" pitchFamily="18" charset="0"/>
              </a:rPr>
              <a:t>Reactive Post-Failure Approach: </a:t>
            </a:r>
            <a:r>
              <a:rPr lang="en-US" sz="1400" b="0" dirty="0">
                <a:solidFill>
                  <a:srgbClr val="444444"/>
                </a:solidFill>
                <a:latin typeface="Times New Roman" panose="02020603050405020304" pitchFamily="18" charset="0"/>
                <a:cs typeface="Times New Roman" panose="02020603050405020304" pitchFamily="18" charset="0"/>
              </a:rPr>
              <a:t>Acts only after failures occur with no temporal modeling to predict or prevent future faults proactively.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roposed System">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Title"/>
          <p:cNvSpPr/>
          <p:nvPr/>
        </p:nvSpPr>
        <p:spPr>
          <a:xfrm>
            <a:off x="415383" y="677461"/>
            <a:ext cx="1668405" cy="259751"/>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1A1A1A"/>
                </a:solidFill>
                <a:latin typeface="Times New Roman" panose="02020603050405020304" pitchFamily="18" charset="0"/>
                <a:cs typeface="Times New Roman" panose="02020603050405020304" pitchFamily="18" charset="0"/>
              </a:rPr>
              <a:t>Proposed System</a:t>
            </a:r>
          </a:p>
        </p:txBody>
      </p:sp>
      <p:sp>
        <p:nvSpPr>
          <p:cNvPr id="4" name="AccentBar"/>
          <p:cNvSpPr/>
          <p:nvPr/>
        </p:nvSpPr>
        <p:spPr>
          <a:xfrm>
            <a:off x="571500" y="990000"/>
            <a:ext cx="1800000" cy="28575"/>
          </a:xfrm>
          <a:prstGeom prst="rect">
            <a:avLst/>
          </a:prstGeom>
          <a:solidFill>
            <a:srgbClr val="FF4500"/>
          </a:solidFill>
          <a:ln/>
        </p:spPr>
        <p:txBody>
          <a:bodyPr/>
          <a:lstStyle/>
          <a:p>
            <a:endParaRPr lang="en-IN" dirty="0">
              <a:latin typeface="Times New Roman" panose="02020603050405020304" pitchFamily="18" charset="0"/>
            </a:endParaRPr>
          </a:p>
        </p:txBody>
      </p:sp>
      <p:sp>
        <p:nvSpPr>
          <p:cNvPr id="5" name="Content"/>
          <p:cNvSpPr/>
          <p:nvPr/>
        </p:nvSpPr>
        <p:spPr>
          <a:xfrm>
            <a:off x="571500" y="1100000"/>
            <a:ext cx="7900000" cy="3700000"/>
          </a:xfrm>
          <a:prstGeom prst="rect">
            <a:avLst/>
          </a:prstGeom>
          <a:noFill/>
          <a:ln w="9144">
            <a:solidFill>
              <a:srgbClr val="DDDDDD"/>
            </a:solidFill>
          </a:ln>
        </p:spPr>
        <p:txBody>
          <a:bodyPr wrap="square" lIns="228600" tIns="228600" rIns="228600" bIns="228600" rtlCol="0" anchor="t">
            <a:normAutofit/>
          </a:bodyPr>
          <a:lstStyle/>
          <a:p>
            <a:pPr marL="342900" indent="-342900" algn="l">
              <a:lnSpc>
                <a:spcPts val="1600"/>
              </a:lnSpc>
              <a:spcBef>
                <a:spcPts val="400"/>
              </a:spcBef>
              <a:buChar char="●"/>
            </a:pPr>
            <a:r>
              <a:rPr lang="en-US" sz="1400" b="1" dirty="0">
                <a:solidFill>
                  <a:srgbClr val="FF4500"/>
                </a:solidFill>
                <a:latin typeface="Times New Roman" panose="02020603050405020304" pitchFamily="18" charset="0"/>
                <a:cs typeface="Times New Roman" panose="02020603050405020304" pitchFamily="18" charset="0"/>
              </a:rPr>
              <a:t>Automated AI Pipeline: </a:t>
            </a:r>
            <a:r>
              <a:rPr lang="en-US" sz="1400" b="0" dirty="0">
                <a:solidFill>
                  <a:srgbClr val="444444"/>
                </a:solidFill>
                <a:latin typeface="Times New Roman" panose="02020603050405020304" pitchFamily="18" charset="0"/>
                <a:cs typeface="Times New Roman" panose="02020603050405020304" pitchFamily="18" charset="0"/>
              </a:rPr>
              <a:t>Combines Machine Learning, Deep Learning (LSTM), and Graph Neural Networks (GCN) for end-to-end automated diagnostics.</a:t>
            </a:r>
          </a:p>
          <a:p>
            <a:pPr marL="342900" indent="-342900" algn="l">
              <a:lnSpc>
                <a:spcPts val="1600"/>
              </a:lnSpc>
              <a:spcBef>
                <a:spcPts val="400"/>
              </a:spcBef>
              <a:buChar char="●"/>
            </a:pPr>
            <a:r>
              <a:rPr lang="en-US" sz="1400" b="1" dirty="0">
                <a:solidFill>
                  <a:srgbClr val="FF4500"/>
                </a:solidFill>
                <a:latin typeface="Times New Roman" panose="02020603050405020304" pitchFamily="18" charset="0"/>
                <a:cs typeface="Times New Roman" panose="02020603050405020304" pitchFamily="18" charset="0"/>
              </a:rPr>
              <a:t>High Scalability: </a:t>
            </a:r>
            <a:r>
              <a:rPr lang="en-US" sz="1400" b="0" dirty="0">
                <a:solidFill>
                  <a:srgbClr val="444444"/>
                </a:solidFill>
                <a:latin typeface="Times New Roman" panose="02020603050405020304" pitchFamily="18" charset="0"/>
                <a:cs typeface="Times New Roman" panose="02020603050405020304" pitchFamily="18" charset="0"/>
              </a:rPr>
              <a:t>GCN models system components as graph nodes/edges, effectively handling complex distributed dependencies at scale.</a:t>
            </a:r>
          </a:p>
          <a:p>
            <a:pPr marL="342900" indent="-342900" algn="l">
              <a:lnSpc>
                <a:spcPts val="1600"/>
              </a:lnSpc>
              <a:spcBef>
                <a:spcPts val="400"/>
              </a:spcBef>
              <a:buChar char="●"/>
            </a:pPr>
            <a:r>
              <a:rPr lang="en-US" sz="1400" b="1" dirty="0">
                <a:solidFill>
                  <a:srgbClr val="FF4500"/>
                </a:solidFill>
                <a:latin typeface="Times New Roman" panose="02020603050405020304" pitchFamily="18" charset="0"/>
                <a:cs typeface="Times New Roman" panose="02020603050405020304" pitchFamily="18" charset="0"/>
              </a:rPr>
              <a:t>Real-Time Diagnosis: </a:t>
            </a:r>
            <a:r>
              <a:rPr lang="en-US" sz="1400" b="0" dirty="0">
                <a:solidFill>
                  <a:srgbClr val="444444"/>
                </a:solidFill>
                <a:latin typeface="Times New Roman" panose="02020603050405020304" pitchFamily="18" charset="0"/>
                <a:cs typeface="Times New Roman" panose="02020603050405020304" pitchFamily="18" charset="0"/>
              </a:rPr>
              <a:t>Isolation Forest detects anomalies in near real-time, drastically reducing MTTR from hours to seconds.</a:t>
            </a:r>
          </a:p>
          <a:p>
            <a:pPr marL="342900" indent="-342900" algn="l">
              <a:lnSpc>
                <a:spcPts val="1600"/>
              </a:lnSpc>
              <a:spcBef>
                <a:spcPts val="400"/>
              </a:spcBef>
              <a:buChar char="●"/>
            </a:pPr>
            <a:r>
              <a:rPr lang="en-US" sz="1400" b="1" dirty="0">
                <a:solidFill>
                  <a:srgbClr val="FF4500"/>
                </a:solidFill>
                <a:latin typeface="Times New Roman" panose="02020603050405020304" pitchFamily="18" charset="0"/>
                <a:cs typeface="Times New Roman" panose="02020603050405020304" pitchFamily="18" charset="0"/>
              </a:rPr>
              <a:t>Root Cause + SHAP Explainability: </a:t>
            </a:r>
            <a:r>
              <a:rPr lang="en-US" sz="1400" b="0" dirty="0">
                <a:solidFill>
                  <a:srgbClr val="444444"/>
                </a:solidFill>
                <a:latin typeface="Times New Roman" panose="02020603050405020304" pitchFamily="18" charset="0"/>
                <a:cs typeface="Times New Roman" panose="02020603050405020304" pitchFamily="18" charset="0"/>
              </a:rPr>
              <a:t>SHAP values quantify each feature’s contribution to the diagnosis, making AI decisions transparent and trustworthy.</a:t>
            </a:r>
          </a:p>
          <a:p>
            <a:pPr marL="342900" indent="-342900" algn="l">
              <a:lnSpc>
                <a:spcPts val="1600"/>
              </a:lnSpc>
              <a:spcBef>
                <a:spcPts val="400"/>
              </a:spcBef>
              <a:buChar char="●"/>
            </a:pPr>
            <a:r>
              <a:rPr lang="en-US" sz="1400" b="1" dirty="0">
                <a:solidFill>
                  <a:srgbClr val="FF4500"/>
                </a:solidFill>
                <a:latin typeface="Times New Roman" panose="02020603050405020304" pitchFamily="18" charset="0"/>
                <a:cs typeface="Times New Roman" panose="02020603050405020304" pitchFamily="18" charset="0"/>
              </a:rPr>
              <a:t>Proactive LSTM-Based Prediction: </a:t>
            </a:r>
            <a:r>
              <a:rPr lang="en-US" sz="1400" b="0" dirty="0">
                <a:solidFill>
                  <a:srgbClr val="444444"/>
                </a:solidFill>
                <a:latin typeface="Times New Roman" panose="02020603050405020304" pitchFamily="18" charset="0"/>
                <a:cs typeface="Times New Roman" panose="02020603050405020304" pitchFamily="18" charset="0"/>
              </a:rPr>
              <a:t>Analyzes temporal patterns in telemetry data to predict failures before they occur, enabling preventive maintenance.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4309" y="0"/>
            <a:ext cx="9144000" cy="5143500"/>
          </a:xfrm>
          <a:prstGeom prst="rect">
            <a:avLst/>
          </a:prstGeom>
        </p:spPr>
      </p:pic>
      <p:sp>
        <p:nvSpPr>
          <p:cNvPr id="3" name="Text 0"/>
          <p:cNvSpPr/>
          <p:nvPr/>
        </p:nvSpPr>
        <p:spPr>
          <a:xfrm>
            <a:off x="571500" y="618353"/>
            <a:ext cx="3816814" cy="259751"/>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1A1A1A"/>
                </a:solidFill>
                <a:latin typeface="Times New Roman" panose="02020603050405020304" pitchFamily="18" charset="0"/>
                <a:cs typeface="Times New Roman" panose="02020603050405020304" pitchFamily="18" charset="0"/>
              </a:rPr>
              <a:t>Methodology: Data &amp; Anomaly Detection</a:t>
            </a:r>
            <a:endParaRPr lang="en-US" sz="1602" dirty="0">
              <a:latin typeface="Times New Roman" panose="02020603050405020304" pitchFamily="18" charset="0"/>
              <a:cs typeface="Times New Roman" panose="02020603050405020304" pitchFamily="18" charset="0"/>
            </a:endParaRPr>
          </a:p>
        </p:txBody>
      </p:sp>
      <p:sp>
        <p:nvSpPr>
          <p:cNvPr id="4" name="Text 1"/>
          <p:cNvSpPr/>
          <p:nvPr/>
        </p:nvSpPr>
        <p:spPr>
          <a:xfrm>
            <a:off x="571500" y="1263495"/>
            <a:ext cx="310983" cy="346249"/>
          </a:xfrm>
          <a:prstGeom prst="rect">
            <a:avLst/>
          </a:prstGeom>
          <a:noFill/>
          <a:ln/>
        </p:spPr>
        <p:txBody>
          <a:bodyPr wrap="none" lIns="0" tIns="0" rIns="0" bIns="0" rtlCol="0" anchor="t">
            <a:spAutoFit/>
          </a:bodyPr>
          <a:lstStyle/>
          <a:p>
            <a:pPr marL="0" indent="0" algn="l">
              <a:lnSpc>
                <a:spcPts val="2700"/>
              </a:lnSpc>
              <a:buNone/>
            </a:pPr>
            <a:r>
              <a:rPr lang="en-US" sz="2436" b="1" dirty="0">
                <a:solidFill>
                  <a:srgbClr val="FF4500"/>
                </a:solidFill>
                <a:latin typeface="Times New Roman" panose="02020603050405020304" pitchFamily="18" charset="0"/>
              </a:rPr>
              <a:t>01</a:t>
            </a:r>
            <a:endParaRPr lang="en-US" sz="2436" dirty="0">
              <a:latin typeface="Times New Roman" panose="02020603050405020304" pitchFamily="18" charset="0"/>
            </a:endParaRPr>
          </a:p>
        </p:txBody>
      </p:sp>
      <p:sp>
        <p:nvSpPr>
          <p:cNvPr id="5" name="Text 2"/>
          <p:cNvSpPr/>
          <p:nvPr/>
        </p:nvSpPr>
        <p:spPr>
          <a:xfrm>
            <a:off x="571500" y="1663545"/>
            <a:ext cx="1485856"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1A1A1A"/>
                </a:solidFill>
                <a:latin typeface="Times New Roman" panose="02020603050405020304" pitchFamily="18" charset="0"/>
                <a:cs typeface="Times New Roman" panose="02020603050405020304" pitchFamily="18" charset="0"/>
              </a:rPr>
              <a:t>Data Preprocessing</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1057303" y="2183253"/>
            <a:ext cx="764828" cy="399725"/>
          </a:xfrm>
          <a:prstGeom prst="rect">
            <a:avLst/>
          </a:prstGeom>
          <a:noFill/>
          <a:ln/>
        </p:spPr>
        <p:txBody>
          <a:bodyPr wrap="square" lIns="0" tIns="0" rIns="0" bIns="0" rtlCol="0" anchor="t">
            <a:spAutoFit/>
          </a:bodyPr>
          <a:lstStyle/>
          <a:p>
            <a:pPr marL="0" indent="0" algn="l">
              <a:lnSpc>
                <a:spcPts val="1600"/>
              </a:lnSpc>
              <a:buNone/>
            </a:pPr>
            <a:r>
              <a:rPr lang="en-US" sz="1200" b="1" dirty="0">
                <a:solidFill>
                  <a:srgbClr val="333333"/>
                </a:solidFill>
                <a:latin typeface="Times New Roman" panose="02020603050405020304" pitchFamily="18" charset="0"/>
                <a:cs typeface="Times New Roman" panose="02020603050405020304" pitchFamily="18" charset="0"/>
              </a:rPr>
              <a:t>Dataset Loading:</a:t>
            </a:r>
            <a:endParaRPr lang="en-US" sz="1200" b="1" dirty="0">
              <a:latin typeface="Times New Roman" panose="02020603050405020304" pitchFamily="18" charset="0"/>
              <a:cs typeface="Times New Roman" panose="02020603050405020304" pitchFamily="18" charset="0"/>
            </a:endParaRPr>
          </a:p>
        </p:txBody>
      </p:sp>
      <p:sp>
        <p:nvSpPr>
          <p:cNvPr id="7" name="Text 4"/>
          <p:cNvSpPr/>
          <p:nvPr/>
        </p:nvSpPr>
        <p:spPr>
          <a:xfrm>
            <a:off x="1870323" y="2183253"/>
            <a:ext cx="2606994" cy="392928"/>
          </a:xfrm>
          <a:prstGeom prst="rect">
            <a:avLst/>
          </a:prstGeom>
          <a:noFill/>
          <a:ln/>
        </p:spPr>
        <p:txBody>
          <a:bodyPr wrap="square" lIns="0" tIns="0" rIns="0" bIns="0" rtlCol="0" anchor="t">
            <a:spAutoFit/>
          </a:bodyPr>
          <a:lstStyle/>
          <a:p>
            <a:pPr marL="0" indent="0" algn="l">
              <a:lnSpc>
                <a:spcPts val="1600"/>
              </a:lnSpc>
              <a:buNone/>
            </a:pPr>
            <a:r>
              <a:rPr lang="en-US" sz="1100" dirty="0">
                <a:solidFill>
                  <a:srgbClr val="333333"/>
                </a:solidFill>
                <a:latin typeface="Times New Roman" panose="02020603050405020304" pitchFamily="18" charset="0"/>
                <a:cs typeface="Times New Roman" panose="02020603050405020304" pitchFamily="18" charset="0"/>
              </a:rPr>
              <a:t>Importing heterogeneous system logs and telemetry metrics.</a:t>
            </a:r>
            <a:endParaRPr lang="en-US" sz="1100" dirty="0">
              <a:latin typeface="Times New Roman" panose="02020603050405020304" pitchFamily="18" charset="0"/>
              <a:cs typeface="Times New Roman" panose="02020603050405020304" pitchFamily="18" charset="0"/>
            </a:endParaRPr>
          </a:p>
        </p:txBody>
      </p:sp>
      <p:sp>
        <p:nvSpPr>
          <p:cNvPr id="8" name="Text 5"/>
          <p:cNvSpPr/>
          <p:nvPr/>
        </p:nvSpPr>
        <p:spPr>
          <a:xfrm>
            <a:off x="1057303" y="2680413"/>
            <a:ext cx="663270" cy="395108"/>
          </a:xfrm>
          <a:prstGeom prst="rect">
            <a:avLst/>
          </a:prstGeom>
          <a:noFill/>
          <a:ln/>
        </p:spPr>
        <p:txBody>
          <a:bodyPr wrap="square" lIns="0" tIns="0" rIns="0" bIns="0" rtlCol="0" anchor="t">
            <a:spAutoFit/>
          </a:bodyPr>
          <a:lstStyle/>
          <a:p>
            <a:pPr marL="0" indent="0" algn="l">
              <a:lnSpc>
                <a:spcPts val="1600"/>
              </a:lnSpc>
              <a:buNone/>
            </a:pPr>
            <a:r>
              <a:rPr lang="en-US" sz="1200" b="1" dirty="0">
                <a:solidFill>
                  <a:srgbClr val="333333"/>
                </a:solidFill>
                <a:latin typeface="Times New Roman" panose="02020603050405020304" pitchFamily="18" charset="0"/>
                <a:cs typeface="Times New Roman" panose="02020603050405020304" pitchFamily="18" charset="0"/>
              </a:rPr>
              <a:t>Data Cleaning:</a:t>
            </a:r>
            <a:endParaRPr lang="en-US" sz="1200" b="1" dirty="0">
              <a:latin typeface="Times New Roman" panose="02020603050405020304" pitchFamily="18" charset="0"/>
              <a:cs typeface="Times New Roman" panose="02020603050405020304" pitchFamily="18" charset="0"/>
            </a:endParaRPr>
          </a:p>
        </p:txBody>
      </p:sp>
      <p:sp>
        <p:nvSpPr>
          <p:cNvPr id="9" name="Text 6"/>
          <p:cNvSpPr/>
          <p:nvPr/>
        </p:nvSpPr>
        <p:spPr>
          <a:xfrm>
            <a:off x="1870323" y="2700128"/>
            <a:ext cx="2770798" cy="399725"/>
          </a:xfrm>
          <a:prstGeom prst="rect">
            <a:avLst/>
          </a:prstGeom>
          <a:noFill/>
          <a:ln/>
        </p:spPr>
        <p:txBody>
          <a:bodyPr wrap="square" lIns="0" tIns="0" rIns="0" bIns="0" rtlCol="0" anchor="t">
            <a:spAutoFit/>
          </a:bodyPr>
          <a:lstStyle/>
          <a:p>
            <a:pPr marL="0" indent="0" algn="l">
              <a:lnSpc>
                <a:spcPts val="1600"/>
              </a:lnSpc>
              <a:buNone/>
            </a:pPr>
            <a:r>
              <a:rPr lang="en-US" sz="1200" dirty="0">
                <a:solidFill>
                  <a:srgbClr val="333333"/>
                </a:solidFill>
                <a:latin typeface="Times New Roman" panose="02020603050405020304" pitchFamily="18" charset="0"/>
                <a:cs typeface="Times New Roman" panose="02020603050405020304" pitchFamily="18" charset="0"/>
              </a:rPr>
              <a:t>Handling missing values and removing noise from high-frequency signals.</a:t>
            </a:r>
            <a:endParaRPr lang="en-US" sz="1200" dirty="0">
              <a:latin typeface="Times New Roman" panose="02020603050405020304" pitchFamily="18" charset="0"/>
              <a:cs typeface="Times New Roman" panose="02020603050405020304" pitchFamily="18" charset="0"/>
            </a:endParaRPr>
          </a:p>
        </p:txBody>
      </p:sp>
      <p:sp>
        <p:nvSpPr>
          <p:cNvPr id="10" name="Text 7"/>
          <p:cNvSpPr/>
          <p:nvPr/>
        </p:nvSpPr>
        <p:spPr>
          <a:xfrm>
            <a:off x="1039705" y="3177573"/>
            <a:ext cx="1001877" cy="189924"/>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333333"/>
                </a:solidFill>
                <a:latin typeface="Times New Roman" panose="02020603050405020304" pitchFamily="18" charset="0"/>
                <a:cs typeface="Times New Roman" panose="02020603050405020304" pitchFamily="18" charset="0"/>
              </a:rPr>
              <a:t>Normalization:</a:t>
            </a:r>
            <a:endParaRPr lang="en-US" sz="1200" dirty="0">
              <a:latin typeface="Times New Roman" panose="02020603050405020304" pitchFamily="18" charset="0"/>
              <a:cs typeface="Times New Roman" panose="02020603050405020304" pitchFamily="18" charset="0"/>
            </a:endParaRPr>
          </a:p>
        </p:txBody>
      </p:sp>
      <p:sp>
        <p:nvSpPr>
          <p:cNvPr id="11" name="Text 8"/>
          <p:cNvSpPr/>
          <p:nvPr/>
        </p:nvSpPr>
        <p:spPr>
          <a:xfrm>
            <a:off x="2018388" y="3153039"/>
            <a:ext cx="2410737" cy="399725"/>
          </a:xfrm>
          <a:prstGeom prst="rect">
            <a:avLst/>
          </a:prstGeom>
          <a:noFill/>
          <a:ln/>
        </p:spPr>
        <p:txBody>
          <a:bodyPr wrap="square" lIns="0" tIns="0" rIns="0" bIns="0" rtlCol="0" anchor="t">
            <a:spAutoFit/>
          </a:bodyPr>
          <a:lstStyle/>
          <a:p>
            <a:pPr marL="0" indent="0" algn="l">
              <a:lnSpc>
                <a:spcPts val="1600"/>
              </a:lnSpc>
              <a:buNone/>
            </a:pPr>
            <a:r>
              <a:rPr lang="en-US" sz="1200" dirty="0">
                <a:solidFill>
                  <a:srgbClr val="333333"/>
                </a:solidFill>
                <a:latin typeface="Times New Roman" panose="02020603050405020304" pitchFamily="18" charset="0"/>
                <a:cs typeface="Times New Roman" panose="02020603050405020304" pitchFamily="18" charset="0"/>
              </a:rPr>
              <a:t>Scaling features to ensure model stability and convergence.</a:t>
            </a:r>
            <a:endParaRPr lang="en-US" sz="1200" dirty="0">
              <a:latin typeface="Times New Roman" panose="02020603050405020304" pitchFamily="18" charset="0"/>
              <a:cs typeface="Times New Roman" panose="02020603050405020304" pitchFamily="18" charset="0"/>
            </a:endParaRPr>
          </a:p>
        </p:txBody>
      </p:sp>
      <p:sp>
        <p:nvSpPr>
          <p:cNvPr id="12" name="Text 9"/>
          <p:cNvSpPr/>
          <p:nvPr/>
        </p:nvSpPr>
        <p:spPr>
          <a:xfrm>
            <a:off x="4714875" y="1263495"/>
            <a:ext cx="310983" cy="346249"/>
          </a:xfrm>
          <a:prstGeom prst="rect">
            <a:avLst/>
          </a:prstGeom>
          <a:noFill/>
          <a:ln/>
        </p:spPr>
        <p:txBody>
          <a:bodyPr wrap="none" lIns="0" tIns="0" rIns="0" bIns="0" rtlCol="0" anchor="t">
            <a:spAutoFit/>
          </a:bodyPr>
          <a:lstStyle/>
          <a:p>
            <a:pPr marL="0" indent="0" algn="l">
              <a:lnSpc>
                <a:spcPts val="2700"/>
              </a:lnSpc>
              <a:buNone/>
            </a:pPr>
            <a:r>
              <a:rPr lang="en-US" sz="2436" b="1" dirty="0">
                <a:solidFill>
                  <a:srgbClr val="FF4500"/>
                </a:solidFill>
                <a:latin typeface="Times New Roman" panose="02020603050405020304" pitchFamily="18" charset="0"/>
              </a:rPr>
              <a:t>02</a:t>
            </a:r>
            <a:endParaRPr lang="en-US" sz="2436" dirty="0">
              <a:latin typeface="Times New Roman" panose="02020603050405020304" pitchFamily="18" charset="0"/>
            </a:endParaRPr>
          </a:p>
        </p:txBody>
      </p:sp>
      <p:sp>
        <p:nvSpPr>
          <p:cNvPr id="13" name="Text 10"/>
          <p:cNvSpPr/>
          <p:nvPr/>
        </p:nvSpPr>
        <p:spPr>
          <a:xfrm>
            <a:off x="4714875" y="1663545"/>
            <a:ext cx="1469954"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1A1A1A"/>
                </a:solidFill>
                <a:latin typeface="Times New Roman" panose="02020603050405020304" pitchFamily="18" charset="0"/>
                <a:cs typeface="Times New Roman" panose="02020603050405020304" pitchFamily="18" charset="0"/>
              </a:rPr>
              <a:t>Anomaly Detection</a:t>
            </a:r>
            <a:endParaRPr lang="en-US" sz="1400" dirty="0">
              <a:latin typeface="Times New Roman" panose="02020603050405020304" pitchFamily="18" charset="0"/>
              <a:cs typeface="Times New Roman" panose="02020603050405020304" pitchFamily="18" charset="0"/>
            </a:endParaRPr>
          </a:p>
        </p:txBody>
      </p:sp>
      <p:sp>
        <p:nvSpPr>
          <p:cNvPr id="14" name="Text 11"/>
          <p:cNvSpPr/>
          <p:nvPr/>
        </p:nvSpPr>
        <p:spPr>
          <a:xfrm>
            <a:off x="4714875" y="2140390"/>
            <a:ext cx="3857625" cy="399725"/>
          </a:xfrm>
          <a:prstGeom prst="rect">
            <a:avLst/>
          </a:prstGeom>
          <a:noFill/>
          <a:ln/>
        </p:spPr>
        <p:txBody>
          <a:bodyPr wrap="square" lIns="0" tIns="0" rIns="0" bIns="0" rtlCol="0" anchor="t">
            <a:spAutoFit/>
          </a:bodyPr>
          <a:lstStyle/>
          <a:p>
            <a:pPr marL="0" indent="0" algn="l">
              <a:lnSpc>
                <a:spcPts val="1600"/>
              </a:lnSpc>
              <a:buNone/>
            </a:pPr>
            <a:r>
              <a:rPr lang="en-US" sz="1200" dirty="0">
                <a:solidFill>
                  <a:srgbClr val="333333"/>
                </a:solidFill>
                <a:latin typeface="Times New Roman" panose="02020603050405020304" pitchFamily="18" charset="0"/>
                <a:cs typeface="Times New Roman" panose="02020603050405020304" pitchFamily="18" charset="0"/>
              </a:rPr>
              <a:t>Identifying abnormal system behaviors that deviate from the established baseline.</a:t>
            </a:r>
            <a:endParaRPr lang="en-US" sz="1200" dirty="0">
              <a:latin typeface="Times New Roman" panose="02020603050405020304" pitchFamily="18" charset="0"/>
              <a:cs typeface="Times New Roman" panose="02020603050405020304" pitchFamily="18" charset="0"/>
            </a:endParaRPr>
          </a:p>
        </p:txBody>
      </p:sp>
      <p:sp>
        <p:nvSpPr>
          <p:cNvPr id="15" name="Shape 12"/>
          <p:cNvSpPr/>
          <p:nvPr/>
        </p:nvSpPr>
        <p:spPr>
          <a:xfrm>
            <a:off x="4578875" y="2560627"/>
            <a:ext cx="3857625" cy="1622971"/>
          </a:xfrm>
          <a:prstGeom prst="rect">
            <a:avLst/>
          </a:prstGeom>
          <a:solidFill>
            <a:schemeClr val="bg1">
              <a:lumMod val="95000"/>
            </a:schemeClr>
          </a:solidFill>
          <a:ln/>
        </p:spPr>
        <p:txBody>
          <a:bodyPr/>
          <a:lstStyle/>
          <a:p>
            <a:endParaRPr lang="en-IN" dirty="0">
              <a:latin typeface="Times New Roman" panose="02020603050405020304" pitchFamily="18" charset="0"/>
            </a:endParaRPr>
          </a:p>
        </p:txBody>
      </p:sp>
      <p:sp>
        <p:nvSpPr>
          <p:cNvPr id="16" name="Text 13"/>
          <p:cNvSpPr/>
          <p:nvPr/>
        </p:nvSpPr>
        <p:spPr>
          <a:xfrm>
            <a:off x="4741572" y="2658982"/>
            <a:ext cx="1473160" cy="189924"/>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FF4500"/>
                </a:solidFill>
                <a:latin typeface="Times New Roman" panose="02020603050405020304" pitchFamily="18" charset="0"/>
                <a:cs typeface="Times New Roman" panose="02020603050405020304" pitchFamily="18" charset="0"/>
              </a:rPr>
              <a:t>Model:</a:t>
            </a:r>
            <a:r>
              <a:rPr lang="en-US" sz="1200" dirty="0">
                <a:solidFill>
                  <a:srgbClr val="F2F2F2"/>
                </a:solidFill>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Isolation Forest</a:t>
            </a:r>
          </a:p>
        </p:txBody>
      </p:sp>
      <p:sp>
        <p:nvSpPr>
          <p:cNvPr id="17" name="Text 14"/>
          <p:cNvSpPr/>
          <p:nvPr/>
        </p:nvSpPr>
        <p:spPr>
          <a:xfrm>
            <a:off x="4741572" y="2951877"/>
            <a:ext cx="2433167" cy="189924"/>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FF4500"/>
                </a:solidFill>
                <a:latin typeface="Times New Roman" panose="02020603050405020304" pitchFamily="18" charset="0"/>
                <a:cs typeface="Times New Roman" panose="02020603050405020304" pitchFamily="18" charset="0"/>
              </a:rPr>
              <a:t>Type:</a:t>
            </a:r>
            <a:r>
              <a:rPr lang="en-US" sz="1200" dirty="0">
                <a:solidFill>
                  <a:srgbClr val="F2F2F2"/>
                </a:solidFill>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Unsupervised Machine Learning</a:t>
            </a:r>
          </a:p>
        </p:txBody>
      </p:sp>
      <p:sp>
        <p:nvSpPr>
          <p:cNvPr id="18" name="Text 15"/>
          <p:cNvSpPr/>
          <p:nvPr/>
        </p:nvSpPr>
        <p:spPr>
          <a:xfrm>
            <a:off x="4741572" y="3265282"/>
            <a:ext cx="3571875" cy="399725"/>
          </a:xfrm>
          <a:prstGeom prst="rect">
            <a:avLst/>
          </a:prstGeom>
          <a:noFill/>
          <a:ln/>
        </p:spPr>
        <p:txBody>
          <a:bodyPr wrap="square" lIns="0" tIns="0" rIns="0" bIns="0" rtlCol="0" anchor="t">
            <a:spAutoFit/>
          </a:bodyPr>
          <a:lstStyle/>
          <a:p>
            <a:pPr marL="0" indent="0" algn="l">
              <a:lnSpc>
                <a:spcPts val="1600"/>
              </a:lnSpc>
              <a:buNone/>
            </a:pPr>
            <a:r>
              <a:rPr lang="en-US" sz="1200" b="1" dirty="0">
                <a:solidFill>
                  <a:srgbClr val="FF4500"/>
                </a:solidFill>
                <a:latin typeface="Times New Roman" panose="02020603050405020304" pitchFamily="18" charset="0"/>
                <a:cs typeface="Times New Roman" panose="02020603050405020304" pitchFamily="18" charset="0"/>
              </a:rPr>
              <a:t>Purpose:</a:t>
            </a:r>
            <a:r>
              <a:rPr lang="en-US" sz="1200" dirty="0">
                <a:solidFill>
                  <a:srgbClr val="F2F2F2"/>
                </a:solidFill>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Efficiently isolate outliers in high-dimensional telemetry data</a:t>
            </a:r>
            <a:r>
              <a:rPr lang="en-US" sz="1200" dirty="0">
                <a:solidFill>
                  <a:srgbClr val="F2F2F2"/>
                </a:solidFill>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18353"/>
            <a:ext cx="3763018" cy="259751"/>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1A1A1A"/>
                </a:solidFill>
                <a:latin typeface="Times New Roman" panose="02020603050405020304" pitchFamily="18" charset="0"/>
                <a:cs typeface="Times New Roman" panose="02020603050405020304" pitchFamily="18" charset="0"/>
              </a:rPr>
              <a:t>Methodology: Failure Prediction &amp; RCA</a:t>
            </a:r>
            <a:endParaRPr lang="en-US" sz="1602" dirty="0">
              <a:latin typeface="Times New Roman" panose="02020603050405020304" pitchFamily="18" charset="0"/>
              <a:cs typeface="Times New Roman" panose="02020603050405020304" pitchFamily="18" charset="0"/>
            </a:endParaRPr>
          </a:p>
        </p:txBody>
      </p:sp>
      <p:sp>
        <p:nvSpPr>
          <p:cNvPr id="4" name="Text 1"/>
          <p:cNvSpPr/>
          <p:nvPr/>
        </p:nvSpPr>
        <p:spPr>
          <a:xfrm>
            <a:off x="571500" y="1263495"/>
            <a:ext cx="310983" cy="346249"/>
          </a:xfrm>
          <a:prstGeom prst="rect">
            <a:avLst/>
          </a:prstGeom>
          <a:noFill/>
          <a:ln/>
        </p:spPr>
        <p:txBody>
          <a:bodyPr wrap="none" lIns="0" tIns="0" rIns="0" bIns="0" rtlCol="0" anchor="t">
            <a:spAutoFit/>
          </a:bodyPr>
          <a:lstStyle/>
          <a:p>
            <a:pPr marL="0" indent="0" algn="l">
              <a:lnSpc>
                <a:spcPts val="2700"/>
              </a:lnSpc>
              <a:buNone/>
            </a:pPr>
            <a:r>
              <a:rPr lang="en-US" sz="2436" b="1" dirty="0">
                <a:solidFill>
                  <a:srgbClr val="FF4500"/>
                </a:solidFill>
                <a:latin typeface="Times New Roman" panose="02020603050405020304" pitchFamily="18" charset="0"/>
              </a:rPr>
              <a:t>03</a:t>
            </a:r>
            <a:endParaRPr lang="en-US" sz="2436" dirty="0">
              <a:latin typeface="Times New Roman" panose="02020603050405020304" pitchFamily="18" charset="0"/>
            </a:endParaRPr>
          </a:p>
        </p:txBody>
      </p:sp>
      <p:sp>
        <p:nvSpPr>
          <p:cNvPr id="5" name="Text 2"/>
          <p:cNvSpPr/>
          <p:nvPr/>
        </p:nvSpPr>
        <p:spPr>
          <a:xfrm>
            <a:off x="571500" y="1677832"/>
            <a:ext cx="1777025" cy="189924"/>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1A1A1A"/>
                </a:solidFill>
                <a:latin typeface="Times New Roman" panose="02020603050405020304" pitchFamily="18" charset="0"/>
                <a:cs typeface="Times New Roman" panose="02020603050405020304" pitchFamily="18" charset="0"/>
              </a:rPr>
              <a:t>Failure Prediction (LSTM)</a:t>
            </a:r>
            <a:endParaRPr lang="en-US" sz="1200" dirty="0">
              <a:latin typeface="Times New Roman" panose="02020603050405020304" pitchFamily="18" charset="0"/>
              <a:cs typeface="Times New Roman" panose="02020603050405020304" pitchFamily="18" charset="0"/>
            </a:endParaRPr>
          </a:p>
        </p:txBody>
      </p:sp>
      <p:sp>
        <p:nvSpPr>
          <p:cNvPr id="6" name="Text 3"/>
          <p:cNvSpPr/>
          <p:nvPr/>
        </p:nvSpPr>
        <p:spPr>
          <a:xfrm>
            <a:off x="1057303" y="2047522"/>
            <a:ext cx="471283" cy="180306"/>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333333"/>
                </a:solidFill>
                <a:latin typeface="Times New Roman" panose="02020603050405020304" pitchFamily="18" charset="0"/>
                <a:cs typeface="Times New Roman" panose="02020603050405020304" pitchFamily="18" charset="0"/>
              </a:rPr>
              <a:t>Model:</a:t>
            </a:r>
            <a:endParaRPr lang="en-US" sz="1200" dirty="0">
              <a:latin typeface="Times New Roman" panose="02020603050405020304" pitchFamily="18" charset="0"/>
              <a:cs typeface="Times New Roman" panose="02020603050405020304" pitchFamily="18" charset="0"/>
            </a:endParaRPr>
          </a:p>
        </p:txBody>
      </p:sp>
      <p:sp>
        <p:nvSpPr>
          <p:cNvPr id="7" name="Text 4"/>
          <p:cNvSpPr/>
          <p:nvPr/>
        </p:nvSpPr>
        <p:spPr>
          <a:xfrm>
            <a:off x="1618478" y="2047522"/>
            <a:ext cx="2868221" cy="180306"/>
          </a:xfrm>
          <a:prstGeom prst="rect">
            <a:avLst/>
          </a:prstGeom>
          <a:noFill/>
          <a:ln/>
        </p:spPr>
        <p:txBody>
          <a:bodyPr wrap="non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cs typeface="Times New Roman" panose="02020603050405020304" pitchFamily="18" charset="0"/>
              </a:rPr>
              <a:t>Long Short-Term Memory (LSTM) Networks.</a:t>
            </a:r>
            <a:endParaRPr lang="en-US" sz="1200" dirty="0">
              <a:latin typeface="Times New Roman" panose="02020603050405020304" pitchFamily="18" charset="0"/>
              <a:cs typeface="Times New Roman" panose="02020603050405020304" pitchFamily="18" charset="0"/>
            </a:endParaRPr>
          </a:p>
        </p:txBody>
      </p:sp>
      <p:sp>
        <p:nvSpPr>
          <p:cNvPr id="8" name="Text 5"/>
          <p:cNvSpPr/>
          <p:nvPr/>
        </p:nvSpPr>
        <p:spPr>
          <a:xfrm>
            <a:off x="1057303" y="2297553"/>
            <a:ext cx="589905" cy="180306"/>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333333"/>
                </a:solidFill>
                <a:latin typeface="Times New Roman" panose="02020603050405020304" pitchFamily="18" charset="0"/>
                <a:cs typeface="Times New Roman" panose="02020603050405020304" pitchFamily="18" charset="0"/>
              </a:rPr>
              <a:t>Purpose:</a:t>
            </a:r>
            <a:endParaRPr lang="en-US" sz="1200" dirty="0">
              <a:latin typeface="Times New Roman" panose="02020603050405020304" pitchFamily="18" charset="0"/>
              <a:cs typeface="Times New Roman" panose="02020603050405020304" pitchFamily="18" charset="0"/>
            </a:endParaRPr>
          </a:p>
        </p:txBody>
      </p:sp>
      <p:sp>
        <p:nvSpPr>
          <p:cNvPr id="9" name="Text 6"/>
          <p:cNvSpPr/>
          <p:nvPr/>
        </p:nvSpPr>
        <p:spPr>
          <a:xfrm>
            <a:off x="1618478" y="2297553"/>
            <a:ext cx="3239272" cy="37728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cs typeface="Times New Roman" panose="02020603050405020304" pitchFamily="18" charset="0"/>
              </a:rPr>
              <a:t>Analyze temporal patterns in metrics to predict failures before they occur.</a:t>
            </a:r>
            <a:endParaRPr lang="en-US" sz="1200" dirty="0">
              <a:latin typeface="Times New Roman" panose="02020603050405020304" pitchFamily="18" charset="0"/>
              <a:cs typeface="Times New Roman" panose="02020603050405020304" pitchFamily="18" charset="0"/>
            </a:endParaRPr>
          </a:p>
        </p:txBody>
      </p:sp>
      <p:sp>
        <p:nvSpPr>
          <p:cNvPr id="10" name="Text 7"/>
          <p:cNvSpPr/>
          <p:nvPr/>
        </p:nvSpPr>
        <p:spPr>
          <a:xfrm>
            <a:off x="571500" y="2740465"/>
            <a:ext cx="310983" cy="346249"/>
          </a:xfrm>
          <a:prstGeom prst="rect">
            <a:avLst/>
          </a:prstGeom>
          <a:noFill/>
          <a:ln/>
        </p:spPr>
        <p:txBody>
          <a:bodyPr wrap="none" lIns="0" tIns="0" rIns="0" bIns="0" rtlCol="0" anchor="t">
            <a:spAutoFit/>
          </a:bodyPr>
          <a:lstStyle/>
          <a:p>
            <a:pPr marL="0" indent="0" algn="l">
              <a:lnSpc>
                <a:spcPts val="2700"/>
              </a:lnSpc>
              <a:buNone/>
            </a:pPr>
            <a:r>
              <a:rPr lang="en-US" sz="2436" b="1" dirty="0">
                <a:solidFill>
                  <a:srgbClr val="FF4500"/>
                </a:solidFill>
                <a:latin typeface="Times New Roman" panose="02020603050405020304" pitchFamily="18" charset="0"/>
              </a:rPr>
              <a:t>04</a:t>
            </a:r>
            <a:endParaRPr lang="en-US" sz="2436" dirty="0">
              <a:latin typeface="Times New Roman" panose="02020603050405020304" pitchFamily="18" charset="0"/>
            </a:endParaRPr>
          </a:p>
        </p:txBody>
      </p:sp>
      <p:sp>
        <p:nvSpPr>
          <p:cNvPr id="11" name="Text 8"/>
          <p:cNvSpPr/>
          <p:nvPr/>
        </p:nvSpPr>
        <p:spPr>
          <a:xfrm>
            <a:off x="571500" y="3154803"/>
            <a:ext cx="2311530" cy="205184"/>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1A1A1A"/>
                </a:solidFill>
                <a:latin typeface="Times New Roman" panose="02020603050405020304" pitchFamily="18" charset="0"/>
                <a:cs typeface="Times New Roman" panose="02020603050405020304" pitchFamily="18" charset="0"/>
              </a:rPr>
              <a:t>Root Cause </a:t>
            </a:r>
            <a:r>
              <a:rPr lang="en-US" sz="1400" b="1" dirty="0">
                <a:solidFill>
                  <a:srgbClr val="1A1A1A"/>
                </a:solidFill>
                <a:latin typeface="Times New Roman" panose="02020603050405020304" pitchFamily="18" charset="0"/>
                <a:cs typeface="Times New Roman" panose="02020603050405020304" pitchFamily="18" charset="0"/>
              </a:rPr>
              <a:t>Identification</a:t>
            </a:r>
            <a:r>
              <a:rPr lang="en-US" sz="1200" b="1" dirty="0">
                <a:solidFill>
                  <a:srgbClr val="1A1A1A"/>
                </a:solidFill>
                <a:latin typeface="Times New Roman" panose="02020603050405020304" pitchFamily="18" charset="0"/>
                <a:cs typeface="Times New Roman" panose="02020603050405020304" pitchFamily="18" charset="0"/>
              </a:rPr>
              <a:t> (GCN)</a:t>
            </a:r>
            <a:endParaRPr lang="en-US" sz="1200" dirty="0">
              <a:latin typeface="Times New Roman" panose="02020603050405020304" pitchFamily="18" charset="0"/>
              <a:cs typeface="Times New Roman" panose="02020603050405020304" pitchFamily="18" charset="0"/>
            </a:endParaRPr>
          </a:p>
        </p:txBody>
      </p:sp>
      <p:sp>
        <p:nvSpPr>
          <p:cNvPr id="12" name="Text 9"/>
          <p:cNvSpPr/>
          <p:nvPr/>
        </p:nvSpPr>
        <p:spPr>
          <a:xfrm>
            <a:off x="1057303" y="3524492"/>
            <a:ext cx="471283" cy="180306"/>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333333"/>
                </a:solidFill>
                <a:latin typeface="Times New Roman" panose="02020603050405020304" pitchFamily="18" charset="0"/>
                <a:cs typeface="Times New Roman" panose="02020603050405020304" pitchFamily="18" charset="0"/>
              </a:rPr>
              <a:t>Model:</a:t>
            </a:r>
            <a:endParaRPr lang="en-US" sz="1200" dirty="0">
              <a:latin typeface="Times New Roman" panose="02020603050405020304" pitchFamily="18" charset="0"/>
              <a:cs typeface="Times New Roman" panose="02020603050405020304" pitchFamily="18" charset="0"/>
            </a:endParaRPr>
          </a:p>
        </p:txBody>
      </p:sp>
      <p:sp>
        <p:nvSpPr>
          <p:cNvPr id="13" name="Text 10"/>
          <p:cNvSpPr/>
          <p:nvPr/>
        </p:nvSpPr>
        <p:spPr>
          <a:xfrm>
            <a:off x="1618478" y="3528888"/>
            <a:ext cx="2446182" cy="180306"/>
          </a:xfrm>
          <a:prstGeom prst="rect">
            <a:avLst/>
          </a:prstGeom>
          <a:noFill/>
          <a:ln/>
        </p:spPr>
        <p:txBody>
          <a:bodyPr wrap="non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cs typeface="Times New Roman" panose="02020603050405020304" pitchFamily="18" charset="0"/>
              </a:rPr>
              <a:t>Graph Convolutional Networks (GCN).</a:t>
            </a:r>
            <a:endParaRPr lang="en-US" sz="1200" dirty="0">
              <a:latin typeface="Times New Roman" panose="02020603050405020304" pitchFamily="18" charset="0"/>
              <a:cs typeface="Times New Roman" panose="02020603050405020304" pitchFamily="18" charset="0"/>
            </a:endParaRPr>
          </a:p>
        </p:txBody>
      </p:sp>
      <p:sp>
        <p:nvSpPr>
          <p:cNvPr id="14" name="Text 11"/>
          <p:cNvSpPr/>
          <p:nvPr/>
        </p:nvSpPr>
        <p:spPr>
          <a:xfrm>
            <a:off x="1057303" y="3774523"/>
            <a:ext cx="589905" cy="180306"/>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333333"/>
                </a:solidFill>
                <a:latin typeface="Times New Roman" panose="02020603050405020304" pitchFamily="18" charset="0"/>
                <a:cs typeface="Times New Roman" panose="02020603050405020304" pitchFamily="18" charset="0"/>
              </a:rPr>
              <a:t>Purpose:</a:t>
            </a:r>
            <a:endParaRPr lang="en-US" sz="1200" dirty="0">
              <a:latin typeface="Times New Roman" panose="02020603050405020304" pitchFamily="18" charset="0"/>
              <a:cs typeface="Times New Roman" panose="02020603050405020304" pitchFamily="18" charset="0"/>
            </a:endParaRPr>
          </a:p>
        </p:txBody>
      </p:sp>
      <p:sp>
        <p:nvSpPr>
          <p:cNvPr id="15" name="Text 12"/>
          <p:cNvSpPr/>
          <p:nvPr/>
        </p:nvSpPr>
        <p:spPr>
          <a:xfrm>
            <a:off x="1618478" y="3774523"/>
            <a:ext cx="3239272" cy="37728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cs typeface="Times New Roman" panose="02020603050405020304" pitchFamily="18" charset="0"/>
              </a:rPr>
              <a:t>Model system components as nodes and dependencies as edges.</a:t>
            </a:r>
            <a:endParaRPr lang="en-US" sz="1200" dirty="0">
              <a:latin typeface="Times New Roman" panose="02020603050405020304" pitchFamily="18" charset="0"/>
              <a:cs typeface="Times New Roman" panose="02020603050405020304" pitchFamily="18" charset="0"/>
            </a:endParaRPr>
          </a:p>
        </p:txBody>
      </p:sp>
      <p:sp>
        <p:nvSpPr>
          <p:cNvPr id="16" name="Shape 13"/>
          <p:cNvSpPr/>
          <p:nvPr/>
        </p:nvSpPr>
        <p:spPr>
          <a:xfrm>
            <a:off x="5143500" y="1709770"/>
            <a:ext cx="3429000" cy="1285875"/>
          </a:xfrm>
          <a:prstGeom prst="rect">
            <a:avLst/>
          </a:prstGeom>
          <a:solidFill>
            <a:srgbClr val="FFFFFF"/>
          </a:solidFill>
          <a:ln/>
        </p:spPr>
        <p:txBody>
          <a:bodyPr/>
          <a:lstStyle/>
          <a:p>
            <a:endParaRPr lang="en-IN" dirty="0">
              <a:latin typeface="Times New Roman" panose="02020603050405020304" pitchFamily="18" charset="0"/>
            </a:endParaRPr>
          </a:p>
        </p:txBody>
      </p:sp>
      <p:sp>
        <p:nvSpPr>
          <p:cNvPr id="17" name="Shape 14"/>
          <p:cNvSpPr/>
          <p:nvPr/>
        </p:nvSpPr>
        <p:spPr>
          <a:xfrm>
            <a:off x="5143500" y="1682505"/>
            <a:ext cx="3429000" cy="71438"/>
          </a:xfrm>
          <a:prstGeom prst="rect">
            <a:avLst/>
          </a:prstGeom>
          <a:solidFill>
            <a:srgbClr val="1A1A1A"/>
          </a:solidFill>
          <a:ln/>
        </p:spPr>
        <p:txBody>
          <a:bodyPr/>
          <a:lstStyle/>
          <a:p>
            <a:endParaRPr lang="en-IN" dirty="0">
              <a:latin typeface="Times New Roman" panose="02020603050405020304" pitchFamily="18" charset="0"/>
            </a:endParaRPr>
          </a:p>
        </p:txBody>
      </p:sp>
      <p:pic>
        <p:nvPicPr>
          <p:cNvPr id="18" name="Image 1" descr="preencoded.png"/>
          <p:cNvPicPr>
            <a:picLocks noChangeAspect="1"/>
          </p:cNvPicPr>
          <p:nvPr/>
        </p:nvPicPr>
        <p:blipFill>
          <a:blip r:embed="rId4"/>
          <a:stretch>
            <a:fillRect/>
          </a:stretch>
        </p:blipFill>
        <p:spPr>
          <a:xfrm>
            <a:off x="5199363" y="1818514"/>
            <a:ext cx="3286125" cy="1143000"/>
          </a:xfrm>
          <a:prstGeom prst="rect">
            <a:avLst/>
          </a:prstGeom>
        </p:spPr>
      </p:pic>
      <p:sp>
        <p:nvSpPr>
          <p:cNvPr id="19" name="Text 15"/>
          <p:cNvSpPr/>
          <p:nvPr/>
        </p:nvSpPr>
        <p:spPr>
          <a:xfrm>
            <a:off x="5675031" y="3083365"/>
            <a:ext cx="2013372" cy="110608"/>
          </a:xfrm>
          <a:prstGeom prst="rect">
            <a:avLst/>
          </a:prstGeom>
          <a:noFill/>
          <a:ln/>
        </p:spPr>
        <p:txBody>
          <a:bodyPr wrap="none" lIns="0" tIns="0" rIns="0" bIns="0" rtlCol="0" anchor="t">
            <a:spAutoFit/>
          </a:bodyPr>
          <a:lstStyle/>
          <a:p>
            <a:pPr marL="0" indent="0" algn="ctr">
              <a:lnSpc>
                <a:spcPts val="900"/>
              </a:lnSpc>
              <a:buNone/>
            </a:pPr>
            <a:r>
              <a:rPr lang="en-US" sz="727" i="1" dirty="0">
                <a:solidFill>
                  <a:srgbClr val="666666"/>
                </a:solidFill>
                <a:latin typeface="Times New Roman" panose="02020603050405020304" pitchFamily="18" charset="0"/>
              </a:rPr>
              <a:t>Conceptual Hybrid AI Architecture for Complex RCA</a:t>
            </a:r>
            <a:endParaRPr lang="en-US" sz="727" dirty="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434" y="0"/>
            <a:ext cx="9144000" cy="5143500"/>
          </a:xfrm>
          <a:prstGeom prst="rect">
            <a:avLst/>
          </a:prstGeom>
        </p:spPr>
      </p:pic>
      <p:sp>
        <p:nvSpPr>
          <p:cNvPr id="3" name="Text 0"/>
          <p:cNvSpPr/>
          <p:nvPr/>
        </p:nvSpPr>
        <p:spPr>
          <a:xfrm>
            <a:off x="571500" y="618353"/>
            <a:ext cx="3873048" cy="259751"/>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1A1A1A"/>
                </a:solidFill>
                <a:latin typeface="Times New Roman" panose="02020603050405020304" pitchFamily="18" charset="0"/>
                <a:cs typeface="Times New Roman" panose="02020603050405020304" pitchFamily="18" charset="0"/>
              </a:rPr>
              <a:t>Methodology: Explainability &amp; Data Flow</a:t>
            </a:r>
            <a:endParaRPr lang="en-US" sz="1602" dirty="0">
              <a:latin typeface="Times New Roman" panose="02020603050405020304" pitchFamily="18" charset="0"/>
              <a:cs typeface="Times New Roman" panose="02020603050405020304" pitchFamily="18" charset="0"/>
            </a:endParaRPr>
          </a:p>
        </p:txBody>
      </p:sp>
      <p:sp>
        <p:nvSpPr>
          <p:cNvPr id="4" name="Text 1"/>
          <p:cNvSpPr/>
          <p:nvPr/>
        </p:nvSpPr>
        <p:spPr>
          <a:xfrm>
            <a:off x="3071812" y="1177397"/>
            <a:ext cx="796383" cy="342900"/>
          </a:xfrm>
          <a:prstGeom prst="rect">
            <a:avLst/>
          </a:prstGeom>
          <a:noFill/>
          <a:ln/>
        </p:spPr>
        <p:txBody>
          <a:bodyPr wrap="square" lIns="0" tIns="0" rIns="0" bIns="0" rtlCol="0" anchor="t">
            <a:spAutoFit/>
          </a:bodyPr>
          <a:lstStyle/>
          <a:p>
            <a:pPr marL="0" indent="0" algn="l">
              <a:lnSpc>
                <a:spcPts val="2700"/>
              </a:lnSpc>
              <a:buNone/>
            </a:pPr>
            <a:r>
              <a:rPr lang="en-US" sz="2436" b="1" dirty="0">
                <a:solidFill>
                  <a:srgbClr val="FF4500"/>
                </a:solidFill>
                <a:latin typeface="Times New Roman" panose="02020603050405020304" pitchFamily="18" charset="0"/>
              </a:rPr>
              <a:t>05</a:t>
            </a:r>
            <a:endParaRPr lang="en-US" sz="2436" dirty="0">
              <a:latin typeface="Times New Roman" panose="02020603050405020304" pitchFamily="18" charset="0"/>
            </a:endParaRPr>
          </a:p>
        </p:txBody>
      </p:sp>
      <p:sp>
        <p:nvSpPr>
          <p:cNvPr id="5" name="Text 2"/>
          <p:cNvSpPr/>
          <p:nvPr/>
        </p:nvSpPr>
        <p:spPr>
          <a:xfrm>
            <a:off x="3533527" y="1222186"/>
            <a:ext cx="1726435"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1A1A1A"/>
                </a:solidFill>
                <a:latin typeface="Times New Roman" panose="02020603050405020304" pitchFamily="18" charset="0"/>
                <a:cs typeface="Times New Roman" panose="02020603050405020304" pitchFamily="18" charset="0"/>
              </a:rPr>
              <a:t>Explainability (SHAP)</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3207139" y="1768011"/>
            <a:ext cx="2874057" cy="183961"/>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333333"/>
                </a:solidFill>
                <a:latin typeface="Times New Roman" panose="02020603050405020304" pitchFamily="18" charset="0"/>
              </a:rPr>
              <a:t>Tool:</a:t>
            </a:r>
            <a:r>
              <a:rPr lang="en-US" sz="1200" dirty="0">
                <a:solidFill>
                  <a:srgbClr val="333333"/>
                </a:solidFill>
                <a:latin typeface="Times New Roman" panose="02020603050405020304" pitchFamily="18" charset="0"/>
              </a:rPr>
              <a:t> SHapley Additive exPlanations (SHAP).</a:t>
            </a:r>
            <a:endParaRPr lang="en-US" sz="1200" dirty="0">
              <a:latin typeface="Times New Roman" panose="02020603050405020304" pitchFamily="18" charset="0"/>
            </a:endParaRPr>
          </a:p>
        </p:txBody>
      </p:sp>
      <p:sp>
        <p:nvSpPr>
          <p:cNvPr id="7" name="Text 4"/>
          <p:cNvSpPr/>
          <p:nvPr/>
        </p:nvSpPr>
        <p:spPr>
          <a:xfrm>
            <a:off x="3207139" y="2128517"/>
            <a:ext cx="4143375" cy="385763"/>
          </a:xfrm>
          <a:prstGeom prst="rect">
            <a:avLst/>
          </a:prstGeom>
          <a:noFill/>
          <a:ln/>
        </p:spPr>
        <p:txBody>
          <a:bodyPr wrap="square" lIns="0" tIns="0" rIns="0" bIns="0" rtlCol="0" anchor="t">
            <a:spAutoFit/>
          </a:bodyPr>
          <a:lstStyle/>
          <a:p>
            <a:pPr marL="0" indent="0" algn="l">
              <a:lnSpc>
                <a:spcPts val="1500"/>
              </a:lnSpc>
              <a:buNone/>
            </a:pPr>
            <a:r>
              <a:rPr lang="en-US" sz="1200" b="1" dirty="0">
                <a:solidFill>
                  <a:srgbClr val="333333"/>
                </a:solidFill>
                <a:latin typeface="Times New Roman" panose="02020603050405020304" pitchFamily="18" charset="0"/>
              </a:rPr>
              <a:t>Purpose:</a:t>
            </a:r>
            <a:r>
              <a:rPr lang="en-US" sz="1200" dirty="0">
                <a:solidFill>
                  <a:srgbClr val="333333"/>
                </a:solidFill>
                <a:latin typeface="Times New Roman" panose="02020603050405020304" pitchFamily="18" charset="0"/>
              </a:rPr>
              <a:t> Quantifies the contribution of each feature to the final RCA decision, making the "black-box" model transparent.</a:t>
            </a:r>
            <a:endParaRPr lang="en-US" sz="1200" dirty="0">
              <a:latin typeface="Times New Roman" panose="02020603050405020304" pitchFamily="18" charset="0"/>
            </a:endParaRPr>
          </a:p>
        </p:txBody>
      </p:sp>
      <p:sp>
        <p:nvSpPr>
          <p:cNvPr id="18" name="Shape 15"/>
          <p:cNvSpPr/>
          <p:nvPr/>
        </p:nvSpPr>
        <p:spPr>
          <a:xfrm>
            <a:off x="3071812" y="2826980"/>
            <a:ext cx="3571875" cy="2047671"/>
          </a:xfrm>
          <a:prstGeom prst="rect">
            <a:avLst/>
          </a:prstGeom>
          <a:solidFill>
            <a:srgbClr val="FFFFFF"/>
          </a:solidFill>
          <a:ln/>
        </p:spPr>
        <p:txBody>
          <a:bodyPr/>
          <a:lstStyle/>
          <a:p>
            <a:endParaRPr lang="en-IN" dirty="0">
              <a:latin typeface="Times New Roman" panose="02020603050405020304" pitchFamily="18" charset="0"/>
            </a:endParaRPr>
          </a:p>
        </p:txBody>
      </p:sp>
      <p:sp>
        <p:nvSpPr>
          <p:cNvPr id="19" name="Shape 16"/>
          <p:cNvSpPr/>
          <p:nvPr/>
        </p:nvSpPr>
        <p:spPr>
          <a:xfrm>
            <a:off x="3071812" y="2791261"/>
            <a:ext cx="3571875" cy="71438"/>
          </a:xfrm>
          <a:prstGeom prst="rect">
            <a:avLst/>
          </a:prstGeom>
          <a:solidFill>
            <a:srgbClr val="1A1A1A"/>
          </a:solidFill>
          <a:ln/>
        </p:spPr>
        <p:txBody>
          <a:bodyPr/>
          <a:lstStyle/>
          <a:p>
            <a:endParaRPr lang="en-IN" dirty="0">
              <a:latin typeface="Times New Roman" panose="02020603050405020304" pitchFamily="18" charset="0"/>
            </a:endParaRPr>
          </a:p>
        </p:txBody>
      </p:sp>
      <p:pic>
        <p:nvPicPr>
          <p:cNvPr id="20" name="Image 1" descr="preencoded.png"/>
          <p:cNvPicPr>
            <a:picLocks noChangeAspect="1"/>
          </p:cNvPicPr>
          <p:nvPr/>
        </p:nvPicPr>
        <p:blipFill>
          <a:blip r:embed="rId4"/>
          <a:stretch>
            <a:fillRect/>
          </a:stretch>
        </p:blipFill>
        <p:spPr>
          <a:xfrm>
            <a:off x="3157536" y="2862698"/>
            <a:ext cx="3400425" cy="1976233"/>
          </a:xfrm>
          <a:prstGeom prst="rect">
            <a:avLst/>
          </a:prstGeom>
        </p:spPr>
      </p:pic>
      <p:sp>
        <p:nvSpPr>
          <p:cNvPr id="21" name="Text 17"/>
          <p:cNvSpPr/>
          <p:nvPr/>
        </p:nvSpPr>
        <p:spPr>
          <a:xfrm>
            <a:off x="3621063" y="4910370"/>
            <a:ext cx="2313134" cy="110608"/>
          </a:xfrm>
          <a:prstGeom prst="rect">
            <a:avLst/>
          </a:prstGeom>
          <a:noFill/>
          <a:ln/>
        </p:spPr>
        <p:txBody>
          <a:bodyPr wrap="none" lIns="0" tIns="0" rIns="0" bIns="0" rtlCol="0" anchor="t">
            <a:spAutoFit/>
          </a:bodyPr>
          <a:lstStyle/>
          <a:p>
            <a:pPr marL="0" indent="0" algn="ctr">
              <a:lnSpc>
                <a:spcPts val="900"/>
              </a:lnSpc>
              <a:buNone/>
            </a:pPr>
            <a:r>
              <a:rPr lang="en-US" sz="727" i="1" dirty="0">
                <a:solidFill>
                  <a:srgbClr val="666666"/>
                </a:solidFill>
                <a:latin typeface="Times New Roman" panose="02020603050405020304" pitchFamily="18" charset="0"/>
              </a:rPr>
              <a:t>Advanced Architecture for Time-Series &amp; Relational Analysis</a:t>
            </a:r>
            <a:endParaRPr lang="en-US" sz="727" dirty="0">
              <a:latin typeface="Times New Roman" panose="02020603050405020304" pitchFamily="18" charset="0"/>
            </a:endParaRPr>
          </a:p>
        </p:txBody>
      </p:sp>
      <p:sp>
        <p:nvSpPr>
          <p:cNvPr id="22" name="TextBox 21">
            <a:extLst>
              <a:ext uri="{FF2B5EF4-FFF2-40B4-BE49-F238E27FC236}">
                <a16:creationId xmlns:a16="http://schemas.microsoft.com/office/drawing/2014/main" id="{4CB6F527-4636-4921-25F0-506464DFB12B}"/>
              </a:ext>
            </a:extLst>
          </p:cNvPr>
          <p:cNvSpPr txBox="1"/>
          <p:nvPr/>
        </p:nvSpPr>
        <p:spPr>
          <a:xfrm>
            <a:off x="571500" y="3850814"/>
            <a:ext cx="617963" cy="369332"/>
          </a:xfrm>
          <a:prstGeom prst="rect">
            <a:avLst/>
          </a:prstGeom>
          <a:solidFill>
            <a:schemeClr val="bg1">
              <a:lumMod val="95000"/>
            </a:schemeClr>
          </a:solidFill>
        </p:spPr>
        <p:txBody>
          <a:bodyPr wrap="square" rtlCol="0">
            <a:spAutoFit/>
          </a:bodyPr>
          <a:lstStyle/>
          <a:p>
            <a:endParaRPr lang="en-IN" dirty="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18353"/>
            <a:ext cx="2687210" cy="264496"/>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1A1A1A"/>
                </a:solidFill>
                <a:latin typeface="Times New Roman" panose="02020603050405020304" pitchFamily="18" charset="0"/>
              </a:rPr>
              <a:t>Technologies &amp; Frameworks</a:t>
            </a:r>
            <a:endParaRPr lang="en-US" sz="1602" dirty="0">
              <a:latin typeface="Times New Roman" panose="02020603050405020304" pitchFamily="18" charset="0"/>
            </a:endParaRPr>
          </a:p>
        </p:txBody>
      </p:sp>
      <p:sp>
        <p:nvSpPr>
          <p:cNvPr id="4" name="Text 1"/>
          <p:cNvSpPr/>
          <p:nvPr/>
        </p:nvSpPr>
        <p:spPr>
          <a:xfrm>
            <a:off x="428625" y="1179556"/>
            <a:ext cx="676467" cy="14465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500"/>
                </a:solidFill>
                <a:latin typeface="Times New Roman" panose="02020603050405020304" pitchFamily="18" charset="0"/>
              </a:rPr>
              <a:t>Programming</a:t>
            </a:r>
            <a:endParaRPr lang="en-US" sz="885" dirty="0">
              <a:latin typeface="Times New Roman" panose="02020603050405020304" pitchFamily="18" charset="0"/>
            </a:endParaRPr>
          </a:p>
        </p:txBody>
      </p:sp>
      <p:sp>
        <p:nvSpPr>
          <p:cNvPr id="5" name="Text 2"/>
          <p:cNvSpPr/>
          <p:nvPr/>
        </p:nvSpPr>
        <p:spPr>
          <a:xfrm>
            <a:off x="2000250" y="1163482"/>
            <a:ext cx="650819" cy="16619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1A1A1A"/>
                </a:solidFill>
                <a:latin typeface="Times New Roman" panose="02020603050405020304" pitchFamily="18" charset="0"/>
              </a:rPr>
              <a:t>Python 3.13</a:t>
            </a:r>
            <a:endParaRPr lang="en-US" sz="1050" dirty="0">
              <a:latin typeface="Times New Roman" panose="02020603050405020304" pitchFamily="18" charset="0"/>
            </a:endParaRPr>
          </a:p>
        </p:txBody>
      </p:sp>
      <p:sp>
        <p:nvSpPr>
          <p:cNvPr id="6" name="Text 3"/>
          <p:cNvSpPr/>
          <p:nvPr/>
        </p:nvSpPr>
        <p:spPr>
          <a:xfrm>
            <a:off x="428625" y="1647751"/>
            <a:ext cx="713337" cy="14465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500"/>
                </a:solidFill>
                <a:latin typeface="Times New Roman" panose="02020603050405020304" pitchFamily="18" charset="0"/>
              </a:rPr>
              <a:t>Data Handling</a:t>
            </a:r>
            <a:endParaRPr lang="en-US" sz="885" dirty="0">
              <a:latin typeface="Times New Roman" panose="02020603050405020304" pitchFamily="18" charset="0"/>
            </a:endParaRPr>
          </a:p>
        </p:txBody>
      </p:sp>
      <p:sp>
        <p:nvSpPr>
          <p:cNvPr id="7" name="Text 4"/>
          <p:cNvSpPr/>
          <p:nvPr/>
        </p:nvSpPr>
        <p:spPr>
          <a:xfrm>
            <a:off x="2000250" y="1631677"/>
            <a:ext cx="860813" cy="169342"/>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1A1A1A"/>
                </a:solidFill>
                <a:latin typeface="Times New Roman" panose="02020603050405020304" pitchFamily="18" charset="0"/>
              </a:rPr>
              <a:t>Pandas, NumPy</a:t>
            </a:r>
            <a:endParaRPr lang="en-US" sz="1050" dirty="0">
              <a:latin typeface="Times New Roman" panose="02020603050405020304" pitchFamily="18" charset="0"/>
            </a:endParaRPr>
          </a:p>
        </p:txBody>
      </p:sp>
      <p:sp>
        <p:nvSpPr>
          <p:cNvPr id="8" name="Text 5"/>
          <p:cNvSpPr/>
          <p:nvPr/>
        </p:nvSpPr>
        <p:spPr>
          <a:xfrm>
            <a:off x="428625" y="2115945"/>
            <a:ext cx="892873" cy="14465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500"/>
                </a:solidFill>
                <a:latin typeface="Times New Roman" panose="02020603050405020304" pitchFamily="18" charset="0"/>
              </a:rPr>
              <a:t>Machine Learning</a:t>
            </a:r>
            <a:endParaRPr lang="en-US" sz="885" dirty="0">
              <a:latin typeface="Times New Roman" panose="02020603050405020304" pitchFamily="18" charset="0"/>
            </a:endParaRPr>
          </a:p>
        </p:txBody>
      </p:sp>
      <p:sp>
        <p:nvSpPr>
          <p:cNvPr id="9" name="Text 6"/>
          <p:cNvSpPr/>
          <p:nvPr/>
        </p:nvSpPr>
        <p:spPr>
          <a:xfrm>
            <a:off x="2000250" y="2099872"/>
            <a:ext cx="1588576" cy="169342"/>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1A1A1A"/>
                </a:solidFill>
                <a:latin typeface="Times New Roman" panose="02020603050405020304" pitchFamily="18" charset="0"/>
              </a:rPr>
              <a:t>Scikit-learn (Isolation Forest)</a:t>
            </a:r>
            <a:endParaRPr lang="en-US" sz="1050" dirty="0">
              <a:latin typeface="Times New Roman" panose="02020603050405020304" pitchFamily="18" charset="0"/>
            </a:endParaRPr>
          </a:p>
        </p:txBody>
      </p:sp>
      <p:sp>
        <p:nvSpPr>
          <p:cNvPr id="10" name="Text 7"/>
          <p:cNvSpPr/>
          <p:nvPr/>
        </p:nvSpPr>
        <p:spPr>
          <a:xfrm>
            <a:off x="428625" y="2584168"/>
            <a:ext cx="716543" cy="14465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500"/>
                </a:solidFill>
                <a:latin typeface="Times New Roman" panose="02020603050405020304" pitchFamily="18" charset="0"/>
              </a:rPr>
              <a:t>Deep Learning</a:t>
            </a:r>
            <a:endParaRPr lang="en-US" sz="885" dirty="0">
              <a:latin typeface="Times New Roman" panose="02020603050405020304" pitchFamily="18" charset="0"/>
            </a:endParaRPr>
          </a:p>
        </p:txBody>
      </p:sp>
      <p:sp>
        <p:nvSpPr>
          <p:cNvPr id="11" name="Text 8"/>
          <p:cNvSpPr/>
          <p:nvPr/>
        </p:nvSpPr>
        <p:spPr>
          <a:xfrm>
            <a:off x="2000250" y="2568094"/>
            <a:ext cx="1514838" cy="169342"/>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1A1A1A"/>
                </a:solidFill>
                <a:latin typeface="Times New Roman" panose="02020603050405020304" pitchFamily="18" charset="0"/>
              </a:rPr>
              <a:t>TensorFlow, Keras (LSTM)</a:t>
            </a:r>
            <a:endParaRPr lang="en-US" sz="1050" dirty="0">
              <a:latin typeface="Times New Roman" panose="02020603050405020304" pitchFamily="18" charset="0"/>
            </a:endParaRPr>
          </a:p>
        </p:txBody>
      </p:sp>
      <p:sp>
        <p:nvSpPr>
          <p:cNvPr id="12" name="Text 9"/>
          <p:cNvSpPr/>
          <p:nvPr/>
        </p:nvSpPr>
        <p:spPr>
          <a:xfrm>
            <a:off x="428625" y="3052390"/>
            <a:ext cx="791883" cy="14465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500"/>
                </a:solidFill>
                <a:latin typeface="Times New Roman" panose="02020603050405020304" pitchFamily="18" charset="0"/>
              </a:rPr>
              <a:t>Graph Learning</a:t>
            </a:r>
            <a:endParaRPr lang="en-US" sz="885" dirty="0">
              <a:latin typeface="Times New Roman" panose="02020603050405020304" pitchFamily="18" charset="0"/>
            </a:endParaRPr>
          </a:p>
        </p:txBody>
      </p:sp>
      <p:sp>
        <p:nvSpPr>
          <p:cNvPr id="13" name="Text 10"/>
          <p:cNvSpPr/>
          <p:nvPr/>
        </p:nvSpPr>
        <p:spPr>
          <a:xfrm>
            <a:off x="2000250" y="3036317"/>
            <a:ext cx="1471557" cy="169342"/>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1A1A1A"/>
                </a:solidFill>
                <a:latin typeface="Times New Roman" panose="02020603050405020304" pitchFamily="18" charset="0"/>
              </a:rPr>
              <a:t>PyTorch Geometric (GCN)</a:t>
            </a:r>
            <a:endParaRPr lang="en-US" sz="1050" dirty="0">
              <a:latin typeface="Times New Roman" panose="02020603050405020304" pitchFamily="18" charset="0"/>
            </a:endParaRPr>
          </a:p>
        </p:txBody>
      </p:sp>
      <p:sp>
        <p:nvSpPr>
          <p:cNvPr id="14" name="Text 11"/>
          <p:cNvSpPr/>
          <p:nvPr/>
        </p:nvSpPr>
        <p:spPr>
          <a:xfrm>
            <a:off x="428625" y="3520613"/>
            <a:ext cx="732573" cy="14465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500"/>
                </a:solidFill>
                <a:latin typeface="Times New Roman" panose="02020603050405020304" pitchFamily="18" charset="0"/>
              </a:rPr>
              <a:t>Explainable AI</a:t>
            </a:r>
            <a:endParaRPr lang="en-US" sz="885" dirty="0">
              <a:latin typeface="Times New Roman" panose="02020603050405020304" pitchFamily="18" charset="0"/>
            </a:endParaRPr>
          </a:p>
        </p:txBody>
      </p:sp>
      <p:sp>
        <p:nvSpPr>
          <p:cNvPr id="15" name="Text 12"/>
          <p:cNvSpPr/>
          <p:nvPr/>
        </p:nvSpPr>
        <p:spPr>
          <a:xfrm>
            <a:off x="2000250" y="3504540"/>
            <a:ext cx="1272784" cy="169342"/>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1A1A1A"/>
                </a:solidFill>
                <a:latin typeface="Times New Roman" panose="02020603050405020304" pitchFamily="18" charset="0"/>
              </a:rPr>
              <a:t>SHAP (Interpretability)</a:t>
            </a:r>
            <a:endParaRPr lang="en-US" sz="1050" dirty="0">
              <a:latin typeface="Times New Roman" panose="02020603050405020304" pitchFamily="18" charset="0"/>
            </a:endParaRPr>
          </a:p>
        </p:txBody>
      </p:sp>
      <p:sp>
        <p:nvSpPr>
          <p:cNvPr id="16" name="Text 13"/>
          <p:cNvSpPr/>
          <p:nvPr/>
        </p:nvSpPr>
        <p:spPr>
          <a:xfrm>
            <a:off x="5847578" y="1263495"/>
            <a:ext cx="1466748" cy="167290"/>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latin typeface="Times New Roman" panose="02020603050405020304" pitchFamily="18" charset="0"/>
              </a:rPr>
              <a:t>Core Architecture Concept</a:t>
            </a:r>
            <a:endParaRPr lang="en-US" sz="987" dirty="0">
              <a:latin typeface="Times New Roman" panose="02020603050405020304" pitchFamily="18" charset="0"/>
            </a:endParaRPr>
          </a:p>
        </p:txBody>
      </p:sp>
      <p:sp>
        <p:nvSpPr>
          <p:cNvPr id="17" name="Shape 14"/>
          <p:cNvSpPr/>
          <p:nvPr/>
        </p:nvSpPr>
        <p:spPr>
          <a:xfrm>
            <a:off x="5330019" y="1543887"/>
            <a:ext cx="3214688" cy="1857375"/>
          </a:xfrm>
          <a:prstGeom prst="rect">
            <a:avLst/>
          </a:prstGeom>
          <a:solidFill>
            <a:srgbClr val="FFFFFF"/>
          </a:solidFill>
          <a:ln/>
        </p:spPr>
        <p:txBody>
          <a:bodyPr/>
          <a:lstStyle/>
          <a:p>
            <a:endParaRPr lang="en-IN" dirty="0">
              <a:latin typeface="Times New Roman" panose="02020603050405020304" pitchFamily="18" charset="0"/>
            </a:endParaRPr>
          </a:p>
        </p:txBody>
      </p:sp>
      <p:sp>
        <p:nvSpPr>
          <p:cNvPr id="18" name="Shape 15"/>
          <p:cNvSpPr/>
          <p:nvPr/>
        </p:nvSpPr>
        <p:spPr>
          <a:xfrm>
            <a:off x="5330019" y="1543887"/>
            <a:ext cx="3214688" cy="71438"/>
          </a:xfrm>
          <a:prstGeom prst="rect">
            <a:avLst/>
          </a:prstGeom>
          <a:solidFill>
            <a:srgbClr val="1A1A1A"/>
          </a:solidFill>
          <a:ln/>
        </p:spPr>
        <p:txBody>
          <a:bodyPr/>
          <a:lstStyle/>
          <a:p>
            <a:endParaRPr lang="en-IN" dirty="0">
              <a:latin typeface="Times New Roman" panose="02020603050405020304" pitchFamily="18" charset="0"/>
            </a:endParaRPr>
          </a:p>
        </p:txBody>
      </p:sp>
      <p:pic>
        <p:nvPicPr>
          <p:cNvPr id="19" name="Image 1" descr="preencoded.png"/>
          <p:cNvPicPr>
            <a:picLocks noChangeAspect="1"/>
          </p:cNvPicPr>
          <p:nvPr/>
        </p:nvPicPr>
        <p:blipFill>
          <a:blip r:embed="rId4"/>
          <a:stretch>
            <a:fillRect/>
          </a:stretch>
        </p:blipFill>
        <p:spPr>
          <a:xfrm>
            <a:off x="5401456" y="1615325"/>
            <a:ext cx="3071813" cy="1714500"/>
          </a:xfrm>
          <a:prstGeom prst="rect">
            <a:avLst/>
          </a:prstGeom>
        </p:spPr>
      </p:pic>
      <p:sp>
        <p:nvSpPr>
          <p:cNvPr id="20" name="Text 16"/>
          <p:cNvSpPr/>
          <p:nvPr/>
        </p:nvSpPr>
        <p:spPr>
          <a:xfrm>
            <a:off x="5159378" y="3472700"/>
            <a:ext cx="3555997" cy="110608"/>
          </a:xfrm>
          <a:prstGeom prst="rect">
            <a:avLst/>
          </a:prstGeom>
          <a:noFill/>
          <a:ln/>
        </p:spPr>
        <p:txBody>
          <a:bodyPr wrap="square" lIns="0" tIns="0" rIns="0" bIns="0" rtlCol="0" anchor="t">
            <a:spAutoFit/>
          </a:bodyPr>
          <a:lstStyle/>
          <a:p>
            <a:pPr marL="0" indent="0" algn="ctr">
              <a:lnSpc>
                <a:spcPts val="900"/>
              </a:lnSpc>
              <a:buNone/>
            </a:pPr>
            <a:r>
              <a:rPr lang="en-US" sz="727" i="1" dirty="0">
                <a:solidFill>
                  <a:srgbClr val="666666"/>
                </a:solidFill>
                <a:latin typeface="Times New Roman" panose="02020603050405020304" pitchFamily="18" charset="0"/>
              </a:rPr>
              <a:t>Leveraging Graph Convolutional Networks (GCN) for relational root cause identification.</a:t>
            </a:r>
            <a:endParaRPr lang="en-US" sz="727" dirty="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18353"/>
            <a:ext cx="2013565" cy="264496"/>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1A1A1A"/>
                </a:solidFill>
                <a:latin typeface="Times New Roman" panose="02020603050405020304" pitchFamily="18" charset="0"/>
              </a:rPr>
              <a:t>Results &amp; Discussion</a:t>
            </a:r>
            <a:endParaRPr lang="en-US" sz="1602" dirty="0">
              <a:latin typeface="Times New Roman" panose="02020603050405020304" pitchFamily="18" charset="0"/>
            </a:endParaRPr>
          </a:p>
        </p:txBody>
      </p:sp>
      <p:sp>
        <p:nvSpPr>
          <p:cNvPr id="4" name="Text 1"/>
          <p:cNvSpPr/>
          <p:nvPr/>
        </p:nvSpPr>
        <p:spPr>
          <a:xfrm>
            <a:off x="571500" y="1402380"/>
            <a:ext cx="1492140"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FF4500"/>
                </a:solidFill>
                <a:latin typeface="Times New Roman" panose="02020603050405020304" pitchFamily="18" charset="0"/>
              </a:rPr>
              <a:t>Detection Accuracy</a:t>
            </a:r>
            <a:endParaRPr lang="en-US" sz="1400" dirty="0">
              <a:latin typeface="Times New Roman" panose="02020603050405020304" pitchFamily="18" charset="0"/>
            </a:endParaRPr>
          </a:p>
        </p:txBody>
      </p:sp>
      <p:sp>
        <p:nvSpPr>
          <p:cNvPr id="5" name="Text 2"/>
          <p:cNvSpPr/>
          <p:nvPr/>
        </p:nvSpPr>
        <p:spPr>
          <a:xfrm>
            <a:off x="571500" y="1745280"/>
            <a:ext cx="3857625" cy="56964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rPr>
              <a:t>Achieved 98% accuracy in identifying subtle anomalies, significantly outperforming traditional threshold-based systems.</a:t>
            </a:r>
            <a:endParaRPr lang="en-US" sz="1200" dirty="0">
              <a:latin typeface="Times New Roman" panose="02020603050405020304" pitchFamily="18" charset="0"/>
            </a:endParaRPr>
          </a:p>
        </p:txBody>
      </p:sp>
      <p:sp>
        <p:nvSpPr>
          <p:cNvPr id="6" name="Text 3"/>
          <p:cNvSpPr/>
          <p:nvPr/>
        </p:nvSpPr>
        <p:spPr>
          <a:xfrm>
            <a:off x="571500" y="2481086"/>
            <a:ext cx="1242328"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FF4500"/>
                </a:solidFill>
                <a:latin typeface="Times New Roman" panose="02020603050405020304" pitchFamily="18" charset="0"/>
              </a:rPr>
              <a:t>Diagnosis Speed</a:t>
            </a:r>
            <a:endParaRPr lang="en-US" sz="1400" dirty="0">
              <a:latin typeface="Times New Roman" panose="02020603050405020304" pitchFamily="18" charset="0"/>
            </a:endParaRPr>
          </a:p>
        </p:txBody>
      </p:sp>
      <p:sp>
        <p:nvSpPr>
          <p:cNvPr id="7" name="Text 4"/>
          <p:cNvSpPr/>
          <p:nvPr/>
        </p:nvSpPr>
        <p:spPr>
          <a:xfrm>
            <a:off x="571501" y="2823986"/>
            <a:ext cx="3621356" cy="578644"/>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rPr>
              <a:t>Automated GCN-based RCA reduces the Mean Time To Repair (MTTR) from hours to seconds by pinpointing root causes instantly.</a:t>
            </a:r>
            <a:endParaRPr lang="en-US" sz="1200" dirty="0">
              <a:latin typeface="Times New Roman" panose="02020603050405020304" pitchFamily="18" charset="0"/>
            </a:endParaRPr>
          </a:p>
        </p:txBody>
      </p:sp>
      <p:sp>
        <p:nvSpPr>
          <p:cNvPr id="8" name="Text 5"/>
          <p:cNvSpPr/>
          <p:nvPr/>
        </p:nvSpPr>
        <p:spPr>
          <a:xfrm>
            <a:off x="571500" y="3559792"/>
            <a:ext cx="1192571"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FF4500"/>
                </a:solidFill>
                <a:latin typeface="Times New Roman" panose="02020603050405020304" pitchFamily="18" charset="0"/>
              </a:rPr>
              <a:t>Interpretability</a:t>
            </a:r>
            <a:endParaRPr lang="en-US" sz="1400" dirty="0">
              <a:latin typeface="Times New Roman" panose="02020603050405020304" pitchFamily="18" charset="0"/>
            </a:endParaRPr>
          </a:p>
        </p:txBody>
      </p:sp>
      <p:sp>
        <p:nvSpPr>
          <p:cNvPr id="9" name="Text 6"/>
          <p:cNvSpPr/>
          <p:nvPr/>
        </p:nvSpPr>
        <p:spPr>
          <a:xfrm>
            <a:off x="571501" y="3902692"/>
            <a:ext cx="3621356" cy="56964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rPr>
              <a:t>SHAP values provide clear evidence for diagnosis, facilitating faster manual verification by engineering teams.</a:t>
            </a:r>
            <a:endParaRPr lang="en-US" sz="1200" dirty="0">
              <a:latin typeface="Times New Roman" panose="02020603050405020304" pitchFamily="18" charset="0"/>
            </a:endParaRPr>
          </a:p>
        </p:txBody>
      </p:sp>
      <p:pic>
        <p:nvPicPr>
          <p:cNvPr id="15" name="Picture 14">
            <a:extLst>
              <a:ext uri="{FF2B5EF4-FFF2-40B4-BE49-F238E27FC236}">
                <a16:creationId xmlns:a16="http://schemas.microsoft.com/office/drawing/2014/main" id="{CC670DE8-41F7-2F77-115A-C56711BF0949}"/>
              </a:ext>
            </a:extLst>
          </p:cNvPr>
          <p:cNvPicPr>
            <a:picLocks noChangeAspect="1"/>
          </p:cNvPicPr>
          <p:nvPr/>
        </p:nvPicPr>
        <p:blipFill>
          <a:blip r:embed="rId4"/>
          <a:stretch>
            <a:fillRect/>
          </a:stretch>
        </p:blipFill>
        <p:spPr>
          <a:xfrm>
            <a:off x="4296936" y="1227551"/>
            <a:ext cx="4742984" cy="29356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5954EF-D261-F762-4905-3D61F89F785B}"/>
              </a:ext>
            </a:extLst>
          </p:cNvPr>
          <p:cNvPicPr>
            <a:picLocks noChangeAspect="1"/>
          </p:cNvPicPr>
          <p:nvPr/>
        </p:nvPicPr>
        <p:blipFill>
          <a:blip r:embed="rId2"/>
          <a:stretch>
            <a:fillRect/>
          </a:stretch>
        </p:blipFill>
        <p:spPr>
          <a:xfrm>
            <a:off x="87905" y="74341"/>
            <a:ext cx="9004056" cy="4966010"/>
          </a:xfrm>
          <a:prstGeom prst="rect">
            <a:avLst/>
          </a:prstGeom>
        </p:spPr>
      </p:pic>
    </p:spTree>
    <p:extLst>
      <p:ext uri="{BB962C8B-B14F-4D97-AF65-F5344CB8AC3E}">
        <p14:creationId xmlns:p14="http://schemas.microsoft.com/office/powerpoint/2010/main" val="3243285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18353"/>
            <a:ext cx="2593339" cy="264496"/>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1A1A1A"/>
                </a:solidFill>
                <a:latin typeface="Times New Roman" panose="02020603050405020304" pitchFamily="18" charset="0"/>
              </a:rPr>
              <a:t>Conclusion &amp; Future Scope</a:t>
            </a:r>
            <a:endParaRPr lang="en-US" sz="1602" dirty="0">
              <a:latin typeface="Times New Roman" panose="02020603050405020304" pitchFamily="18" charset="0"/>
            </a:endParaRPr>
          </a:p>
        </p:txBody>
      </p:sp>
      <p:sp>
        <p:nvSpPr>
          <p:cNvPr id="4" name="Text 1"/>
          <p:cNvSpPr/>
          <p:nvPr/>
        </p:nvSpPr>
        <p:spPr>
          <a:xfrm>
            <a:off x="428625" y="1292070"/>
            <a:ext cx="857607"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FF4500"/>
                </a:solidFill>
                <a:latin typeface="Times New Roman" panose="02020603050405020304" pitchFamily="18" charset="0"/>
              </a:rPr>
              <a:t>Conclusion</a:t>
            </a:r>
            <a:endParaRPr lang="en-US" sz="1400" dirty="0">
              <a:latin typeface="Times New Roman" panose="02020603050405020304" pitchFamily="18" charset="0"/>
            </a:endParaRPr>
          </a:p>
        </p:txBody>
      </p:sp>
      <p:sp>
        <p:nvSpPr>
          <p:cNvPr id="5" name="Text 2"/>
          <p:cNvSpPr/>
          <p:nvPr/>
        </p:nvSpPr>
        <p:spPr>
          <a:xfrm>
            <a:off x="428625" y="1640328"/>
            <a:ext cx="4000500" cy="38576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rPr>
              <a:t>The Intelligent RCA system successfully automates fault diagnosis, moving from reactive to proactive maintenance.</a:t>
            </a:r>
            <a:endParaRPr lang="en-US" sz="1200" dirty="0">
              <a:latin typeface="Times New Roman" panose="02020603050405020304" pitchFamily="18" charset="0"/>
            </a:endParaRPr>
          </a:p>
        </p:txBody>
      </p:sp>
      <p:sp>
        <p:nvSpPr>
          <p:cNvPr id="6" name="Text 3"/>
          <p:cNvSpPr/>
          <p:nvPr/>
        </p:nvSpPr>
        <p:spPr>
          <a:xfrm>
            <a:off x="428625" y="2111815"/>
            <a:ext cx="4000500" cy="38576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rPr>
              <a:t>Hybrid AI approach significantly reduces human error and system downtime through explainable insights.</a:t>
            </a:r>
            <a:endParaRPr lang="en-US" sz="1200" dirty="0">
              <a:latin typeface="Times New Roman" panose="02020603050405020304" pitchFamily="18" charset="0"/>
            </a:endParaRPr>
          </a:p>
        </p:txBody>
      </p:sp>
      <p:sp>
        <p:nvSpPr>
          <p:cNvPr id="7" name="Text 4"/>
          <p:cNvSpPr/>
          <p:nvPr/>
        </p:nvSpPr>
        <p:spPr>
          <a:xfrm>
            <a:off x="428625" y="2669028"/>
            <a:ext cx="1017843"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FF4500"/>
                </a:solidFill>
                <a:latin typeface="Times New Roman" panose="02020603050405020304" pitchFamily="18" charset="0"/>
              </a:rPr>
              <a:t>Future Scope</a:t>
            </a:r>
            <a:endParaRPr lang="en-US" sz="1400" dirty="0">
              <a:latin typeface="Times New Roman" panose="02020603050405020304" pitchFamily="18" charset="0"/>
            </a:endParaRPr>
          </a:p>
        </p:txBody>
      </p:sp>
      <p:sp>
        <p:nvSpPr>
          <p:cNvPr id="8" name="Text 5"/>
          <p:cNvSpPr/>
          <p:nvPr/>
        </p:nvSpPr>
        <p:spPr>
          <a:xfrm>
            <a:off x="428625" y="3017286"/>
            <a:ext cx="4000500" cy="38576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rPr>
              <a:t>Integration of real-time streaming data using Apache Kafka for live system monitoring.</a:t>
            </a:r>
            <a:endParaRPr lang="en-US" sz="1200" dirty="0">
              <a:latin typeface="Times New Roman" panose="02020603050405020304" pitchFamily="18" charset="0"/>
            </a:endParaRPr>
          </a:p>
        </p:txBody>
      </p:sp>
      <p:sp>
        <p:nvSpPr>
          <p:cNvPr id="9" name="Text 6"/>
          <p:cNvSpPr/>
          <p:nvPr/>
        </p:nvSpPr>
        <p:spPr>
          <a:xfrm>
            <a:off x="428625" y="3488773"/>
            <a:ext cx="4000500" cy="385763"/>
          </a:xfrm>
          <a:prstGeom prst="rect">
            <a:avLst/>
          </a:prstGeom>
          <a:noFill/>
          <a:ln/>
        </p:spPr>
        <p:txBody>
          <a:bodyPr wrap="square" lIns="0" tIns="0" rIns="0" bIns="0" rtlCol="0" anchor="t">
            <a:spAutoFit/>
          </a:bodyPr>
          <a:lstStyle/>
          <a:p>
            <a:pPr marL="0" indent="0" algn="l">
              <a:lnSpc>
                <a:spcPts val="1500"/>
              </a:lnSpc>
              <a:buNone/>
            </a:pPr>
            <a:r>
              <a:rPr lang="en-US" sz="1200" dirty="0">
                <a:solidFill>
                  <a:srgbClr val="333333"/>
                </a:solidFill>
                <a:latin typeface="Times New Roman" panose="02020603050405020304" pitchFamily="18" charset="0"/>
              </a:rPr>
              <a:t>Enhancing GCN models with dynamic graph updates to handle evolving system topologies.</a:t>
            </a:r>
            <a:endParaRPr lang="en-US" sz="1200" dirty="0">
              <a:latin typeface="Times New Roman" panose="02020603050405020304" pitchFamily="18" charset="0"/>
            </a:endParaRPr>
          </a:p>
        </p:txBody>
      </p:sp>
      <p:sp>
        <p:nvSpPr>
          <p:cNvPr id="10" name="Shape 7"/>
          <p:cNvSpPr/>
          <p:nvPr/>
        </p:nvSpPr>
        <p:spPr>
          <a:xfrm>
            <a:off x="4857750" y="1120620"/>
            <a:ext cx="3714750" cy="2571750"/>
          </a:xfrm>
          <a:prstGeom prst="rect">
            <a:avLst/>
          </a:prstGeom>
          <a:solidFill>
            <a:srgbClr val="FFFFFF"/>
          </a:solidFill>
          <a:ln/>
        </p:spPr>
        <p:txBody>
          <a:bodyPr/>
          <a:lstStyle/>
          <a:p>
            <a:endParaRPr lang="en-IN" dirty="0">
              <a:latin typeface="Times New Roman" panose="02020603050405020304" pitchFamily="18" charset="0"/>
            </a:endParaRPr>
          </a:p>
        </p:txBody>
      </p:sp>
      <p:sp>
        <p:nvSpPr>
          <p:cNvPr id="11" name="Shape 8"/>
          <p:cNvSpPr/>
          <p:nvPr/>
        </p:nvSpPr>
        <p:spPr>
          <a:xfrm>
            <a:off x="4857750" y="1120620"/>
            <a:ext cx="3714750" cy="71438"/>
          </a:xfrm>
          <a:prstGeom prst="rect">
            <a:avLst/>
          </a:prstGeom>
          <a:solidFill>
            <a:srgbClr val="1A1A1A"/>
          </a:solidFill>
          <a:ln/>
        </p:spPr>
        <p:txBody>
          <a:bodyPr/>
          <a:lstStyle/>
          <a:p>
            <a:endParaRPr lang="en-IN" dirty="0">
              <a:latin typeface="Times New Roman" panose="02020603050405020304" pitchFamily="18" charset="0"/>
            </a:endParaRPr>
          </a:p>
        </p:txBody>
      </p:sp>
      <p:pic>
        <p:nvPicPr>
          <p:cNvPr id="12" name="Image 1" descr="preencoded.png"/>
          <p:cNvPicPr>
            <a:picLocks noChangeAspect="1"/>
          </p:cNvPicPr>
          <p:nvPr/>
        </p:nvPicPr>
        <p:blipFill>
          <a:blip r:embed="rId4"/>
          <a:stretch>
            <a:fillRect/>
          </a:stretch>
        </p:blipFill>
        <p:spPr>
          <a:xfrm>
            <a:off x="4943475" y="1206345"/>
            <a:ext cx="3543300" cy="2400300"/>
          </a:xfrm>
          <a:prstGeom prst="rect">
            <a:avLst/>
          </a:prstGeom>
        </p:spPr>
      </p:pic>
      <p:sp>
        <p:nvSpPr>
          <p:cNvPr id="13" name="Text 9"/>
          <p:cNvSpPr/>
          <p:nvPr/>
        </p:nvSpPr>
        <p:spPr>
          <a:xfrm>
            <a:off x="5133749" y="3763807"/>
            <a:ext cx="3162725" cy="110608"/>
          </a:xfrm>
          <a:prstGeom prst="rect">
            <a:avLst/>
          </a:prstGeom>
          <a:noFill/>
          <a:ln/>
        </p:spPr>
        <p:txBody>
          <a:bodyPr wrap="none" lIns="0" tIns="0" rIns="0" bIns="0" rtlCol="0" anchor="t">
            <a:spAutoFit/>
          </a:bodyPr>
          <a:lstStyle/>
          <a:p>
            <a:pPr marL="0" indent="0" algn="ctr">
              <a:lnSpc>
                <a:spcPts val="900"/>
              </a:lnSpc>
              <a:buNone/>
            </a:pPr>
            <a:r>
              <a:rPr lang="en-US" sz="727" i="1" dirty="0">
                <a:solidFill>
                  <a:srgbClr val="666666"/>
                </a:solidFill>
                <a:latin typeface="Times New Roman" panose="02020603050405020304" pitchFamily="18" charset="0"/>
              </a:rPr>
              <a:t>Advanced GCN Architecture: The foundation for future dynamic relational analysis.</a:t>
            </a:r>
            <a:endParaRPr lang="en-US" sz="727" dirty="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C15FF2-03EB-9866-81D1-D59E9C07D6A0}"/>
              </a:ext>
            </a:extLst>
          </p:cNvPr>
          <p:cNvSpPr txBox="1"/>
          <p:nvPr/>
        </p:nvSpPr>
        <p:spPr>
          <a:xfrm>
            <a:off x="401444" y="394010"/>
            <a:ext cx="3003395" cy="369332"/>
          </a:xfrm>
          <a:prstGeom prst="rect">
            <a:avLst/>
          </a:prstGeom>
          <a:noFill/>
        </p:spPr>
        <p:txBody>
          <a:bodyPr wrap="square" rtlCol="0">
            <a:spAutoFit/>
          </a:bodyPr>
          <a:lstStyle/>
          <a:p>
            <a:r>
              <a:rPr lang="en-US" dirty="0">
                <a:solidFill>
                  <a:srgbClr val="C00000"/>
                </a:solidFill>
                <a:latin typeface="Times New Roman" panose="02020603050405020304" pitchFamily="18" charset="0"/>
              </a:rPr>
              <a:t>References</a:t>
            </a:r>
            <a:endParaRPr lang="en-IN" dirty="0">
              <a:solidFill>
                <a:srgbClr val="C00000"/>
              </a:solidFill>
              <a:latin typeface="Times New Roman" panose="02020603050405020304" pitchFamily="18" charset="0"/>
            </a:endParaRPr>
          </a:p>
        </p:txBody>
      </p:sp>
      <p:sp>
        <p:nvSpPr>
          <p:cNvPr id="3" name="TextBox 2">
            <a:extLst>
              <a:ext uri="{FF2B5EF4-FFF2-40B4-BE49-F238E27FC236}">
                <a16:creationId xmlns:a16="http://schemas.microsoft.com/office/drawing/2014/main" id="{6DB9DEB6-804C-12F1-FFF3-41F50066E39D}"/>
              </a:ext>
            </a:extLst>
          </p:cNvPr>
          <p:cNvSpPr txBox="1"/>
          <p:nvPr/>
        </p:nvSpPr>
        <p:spPr>
          <a:xfrm>
            <a:off x="401444" y="817755"/>
            <a:ext cx="7679473" cy="2556726"/>
          </a:xfrm>
          <a:prstGeom prst="rect">
            <a:avLst/>
          </a:prstGeom>
          <a:noFill/>
        </p:spPr>
        <p:txBody>
          <a:bodyPr wrap="square" rtlCol="0">
            <a:spAutoFit/>
          </a:bodyPr>
          <a:lstStyle/>
          <a:p>
            <a:pPr>
              <a:lnSpc>
                <a:spcPct val="150000"/>
              </a:lnSpc>
            </a:pPr>
            <a:r>
              <a:rPr lang="en-IN" sz="1200" dirty="0">
                <a:latin typeface="Times New Roman" panose="02020603050405020304" pitchFamily="18" charset="0"/>
                <a:cs typeface="Times New Roman" panose="02020603050405020304" pitchFamily="18" charset="0"/>
              </a:rPr>
              <a:t>1. Ishikawa, K., 'Guide to Quality Control,' Asian Productivity Organization, Tokyo, 1982.</a:t>
            </a:r>
          </a:p>
          <a:p>
            <a:pPr>
              <a:lnSpc>
                <a:spcPct val="150000"/>
              </a:lnSpc>
            </a:pPr>
            <a:r>
              <a:rPr lang="en-IN" sz="1200" dirty="0">
                <a:latin typeface="Times New Roman" panose="02020603050405020304" pitchFamily="18" charset="0"/>
                <a:cs typeface="Times New Roman" panose="02020603050405020304" pitchFamily="18" charset="0"/>
              </a:rPr>
              <a:t>2. Chen, M., Jin, X., and Shen, D., 'Short Text Classification Improved by Learning Multi-Granularity Topics,' in IJCAI, 2011, pp. 1776–1781.</a:t>
            </a:r>
          </a:p>
          <a:p>
            <a:pPr>
              <a:lnSpc>
                <a:spcPct val="150000"/>
              </a:lnSpc>
            </a:pPr>
            <a:r>
              <a:rPr lang="en-IN" sz="1200" dirty="0">
                <a:latin typeface="Times New Roman" panose="02020603050405020304" pitchFamily="18" charset="0"/>
                <a:cs typeface="Times New Roman" panose="02020603050405020304" pitchFamily="18" charset="0"/>
              </a:rPr>
              <a:t>3. </a:t>
            </a:r>
            <a:r>
              <a:rPr lang="en-IN" sz="1200" dirty="0" err="1">
                <a:latin typeface="Times New Roman" panose="02020603050405020304" pitchFamily="18" charset="0"/>
                <a:cs typeface="Times New Roman" panose="02020603050405020304" pitchFamily="18" charset="0"/>
              </a:rPr>
              <a:t>Mogili</a:t>
            </a:r>
            <a:r>
              <a:rPr lang="en-IN" sz="1200" dirty="0">
                <a:latin typeface="Times New Roman" panose="02020603050405020304" pitchFamily="18" charset="0"/>
                <a:cs typeface="Times New Roman" panose="02020603050405020304" pitchFamily="18" charset="0"/>
              </a:rPr>
              <a:t>, U., and Mohamed, A., 'Artificial Intelligence and Machine Learning in the Fields of Education, Medical, and Smart Phones,' in AIP Conference Proceedings, Vol. 2917, No. 1, AIP Publishing, 2023.</a:t>
            </a:r>
          </a:p>
          <a:p>
            <a:pPr>
              <a:lnSpc>
                <a:spcPct val="150000"/>
              </a:lnSpc>
            </a:pPr>
            <a:r>
              <a:rPr lang="en-IN" sz="1200" dirty="0">
                <a:latin typeface="Times New Roman" panose="02020603050405020304" pitchFamily="18" charset="0"/>
                <a:cs typeface="Times New Roman" panose="02020603050405020304" pitchFamily="18" charset="0"/>
              </a:rPr>
              <a:t>4. Liu, F. T., Ting, K. M., and Zhou, Z. H., 'Isolation Forest,' IEEE International Conference on Data Mining, pp. 413–422, 2008.</a:t>
            </a:r>
          </a:p>
          <a:p>
            <a:pPr>
              <a:lnSpc>
                <a:spcPct val="150000"/>
              </a:lnSpc>
            </a:pPr>
            <a:r>
              <a:rPr lang="en-IN" sz="1200" dirty="0">
                <a:latin typeface="Times New Roman" panose="02020603050405020304" pitchFamily="18" charset="0"/>
                <a:cs typeface="Times New Roman" panose="02020603050405020304" pitchFamily="18" charset="0"/>
              </a:rPr>
              <a:t>5. Hochreiter, S., and </a:t>
            </a:r>
            <a:r>
              <a:rPr lang="en-IN" sz="1200" dirty="0" err="1">
                <a:latin typeface="Times New Roman" panose="02020603050405020304" pitchFamily="18" charset="0"/>
                <a:cs typeface="Times New Roman" panose="02020603050405020304" pitchFamily="18" charset="0"/>
              </a:rPr>
              <a:t>Schmidhuber</a:t>
            </a:r>
            <a:r>
              <a:rPr lang="en-IN" sz="1200" dirty="0">
                <a:latin typeface="Times New Roman" panose="02020603050405020304" pitchFamily="18" charset="0"/>
                <a:cs typeface="Times New Roman" panose="02020603050405020304" pitchFamily="18" charset="0"/>
              </a:rPr>
              <a:t>, J., 'Long Short-Term Memory,' Neural Computation, vol. 9, no. 8, pp. 1735–1780, 1997.</a:t>
            </a:r>
          </a:p>
        </p:txBody>
      </p:sp>
    </p:spTree>
    <p:extLst>
      <p:ext uri="{BB962C8B-B14F-4D97-AF65-F5344CB8AC3E}">
        <p14:creationId xmlns:p14="http://schemas.microsoft.com/office/powerpoint/2010/main" val="3753623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FCAA5F-B623-4FB7-F12D-5E97669505D6}"/>
              </a:ext>
            </a:extLst>
          </p:cNvPr>
          <p:cNvSpPr txBox="1"/>
          <p:nvPr/>
        </p:nvSpPr>
        <p:spPr>
          <a:xfrm>
            <a:off x="2646556" y="2135015"/>
            <a:ext cx="7010400" cy="646331"/>
          </a:xfrm>
          <a:prstGeom prst="rect">
            <a:avLst/>
          </a:prstGeom>
          <a:noFill/>
        </p:spPr>
        <p:txBody>
          <a:bodyPr wrap="square" rtlCol="0">
            <a:spAutoFit/>
          </a:bodyPr>
          <a:lstStyle/>
          <a:p>
            <a:r>
              <a:rPr lang="en-US" sz="3600" dirty="0">
                <a:solidFill>
                  <a:srgbClr val="C00000"/>
                </a:solidFill>
                <a:latin typeface="Times New Roman" panose="02020603050405020304" pitchFamily="18" charset="0"/>
              </a:rPr>
              <a:t>Questions &amp; Queries</a:t>
            </a:r>
            <a:endParaRPr lang="en-IN" sz="3600" dirty="0">
              <a:solidFill>
                <a:srgbClr val="C00000"/>
              </a:solidFill>
              <a:latin typeface="Times New Roman" panose="02020603050405020304" pitchFamily="18" charset="0"/>
            </a:endParaRPr>
          </a:p>
        </p:txBody>
      </p:sp>
    </p:spTree>
    <p:extLst>
      <p:ext uri="{BB962C8B-B14F-4D97-AF65-F5344CB8AC3E}">
        <p14:creationId xmlns:p14="http://schemas.microsoft.com/office/powerpoint/2010/main" val="1394101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1"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52" name="Google Shape;52;p1"/>
          <p:cNvSpPr txBox="1"/>
          <p:nvPr/>
        </p:nvSpPr>
        <p:spPr>
          <a:xfrm>
            <a:off x="0" y="2039534"/>
            <a:ext cx="9144000" cy="11082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stStyle>
          <a:p>
            <a:pPr marL="0" lvl="0" indent="0" algn="ctr" rtl="0">
              <a:spcBef>
                <a:spcPts val="0"/>
              </a:spcBef>
              <a:spcAft>
                <a:spcPts val="0"/>
              </a:spcAft>
              <a:buNone/>
            </a:pPr>
            <a:r>
              <a:rPr lang="en-US" sz="6000" b="1" i="1" dirty="0">
                <a:latin typeface="EB Garamond"/>
                <a:ea typeface="EB Garamond"/>
                <a:cs typeface="EB Garamond"/>
                <a:sym typeface="EB Garamond"/>
              </a:rPr>
              <a:t>THANK YOU</a:t>
            </a:r>
            <a:endParaRPr sz="6000" b="1" i="1" dirty="0">
              <a:latin typeface="EB Garamond"/>
              <a:ea typeface="EB Garamond"/>
              <a:cs typeface="EB Garamond"/>
              <a:sym typeface="EB Garamon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278</TotalTime>
  <Words>1481</Words>
  <Application>Microsoft Office PowerPoint</Application>
  <PresentationFormat>On-screen Show (16:9)</PresentationFormat>
  <Paragraphs>156</Paragraphs>
  <Slides>18</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Arial</vt:lpstr>
      <vt:lpstr>Arial MT</vt:lpstr>
      <vt:lpstr>EB Garamond</vt:lpstr>
      <vt:lpstr>Times New Roman</vt:lpstr>
      <vt:lpstr>Office Theme</vt:lpstr>
      <vt:lpstr>1_Office Theme</vt:lpstr>
      <vt:lpstr>Automated Root Cause Analysis in Distributed Microservices Systems  Using Hybrid AI Techniques Department of Computer Science &amp; Engineering (AI &amp; 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HEMA SUNDHAR</dc:creator>
  <cp:lastModifiedBy>siva surya naidu G</cp:lastModifiedBy>
  <cp:revision>5</cp:revision>
  <dcterms:modified xsi:type="dcterms:W3CDTF">2026-04-01T07:20:55Z</dcterms:modified>
</cp:coreProperties>
</file>